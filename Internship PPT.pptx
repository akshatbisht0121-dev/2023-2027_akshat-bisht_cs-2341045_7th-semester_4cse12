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Calibri"/>
              </a:defRPr>
            </a:pPr>
            <a:r>
              <a:rPr sz="1300" b="0" i="0" u="none" strike="noStrike">
                <a:solidFill>
                  <a:srgbClr val="1E2761"/>
                </a:solidFill>
                <a:latin typeface="Calibri"/>
              </a:rPr>
              <a:t>Extraction Accuracy Achieved</a:t>
            </a:r>
          </a:p>
        </c:rich>
      </c:tx>
      <c:layout/>
      <c:overlay val="0"/>
    </c:title>
    <c:autoTitleDeleted val="0"/>
    <c:plotArea>
      <c:layout/>
      <c:barChart>
        <c:barDir val="bar"/>
        <c:grouping val="clustered"/>
        <c:varyColors val="0"/>
        <c:ser>
          <c:idx val="0"/>
          <c:order val="0"/>
          <c:tx>
            <c:strRef>
              <c:f>Sheet1!$B$1</c:f>
              <c:strCache>
                <c:ptCount val="1"/>
                <c:pt idx="0">
                  <c:v>Accuracy (%)</c:v>
                </c:pt>
              </c:strCache>
            </c:strRef>
          </c:tx>
          <c:spPr>
            <a:solidFill>
              <a:srgbClr val="3AA6A6"/>
            </a:solidFill>
            <a:effectLst/>
          </c:spPr>
          <c:invertIfNegative val="0"/>
          <c:dLbls>
            <c:numFmt formatCode="#,##0" sourceLinked="0"/>
            <c:txPr>
              <a:bodyPr/>
              <a:lstStyle/>
              <a:p>
                <a:pPr>
                  <a:defRPr b="0" i="0" strike="noStrike" sz="1100" u="none">
                    <a:solidFill>
                      <a:srgbClr val="20263B"/>
                    </a:solidFill>
                    <a:latin typeface="Arial"/>
                  </a:defRPr>
                </a:pPr>
              </a:p>
            </c:txPr>
            <c:showLegendKey val="0"/>
            <c:showVal val="1"/>
            <c:showCatName val="0"/>
            <c:showSerName val="0"/>
            <c:showPercent val="0"/>
            <c:showBubbleSize val="0"/>
            <c:showLeaderLines val="0"/>
          </c:dLbls>
          <c:cat>
            <c:multiLvlStrRef>
              <c:f>Sheet1!$A$2:$A$4</c:f>
              <c:multiLvlStrCache>
                <c:ptCount val="3"/>
                <c:lvl>
                  <c:pt idx="0">
                    <c:v>Phone Extraction</c:v>
                  </c:pt>
                  <c:pt idx="1">
                    <c:v>Country Detection</c:v>
                  </c:pt>
                  <c:pt idx="2">
                    <c:v>Complaint Type Detection</c:v>
                  </c:pt>
                </c:lvl>
              </c:multiLvlStrCache>
            </c:multiLvlStrRef>
          </c:cat>
          <c:val>
            <c:numRef>
              <c:f>Sheet1!$B$2:$B$4</c:f>
              <c:numCache>
                <c:formatCode>General</c:formatCode>
                <c:ptCount val="3"/>
                <c:pt idx="0">
                  <c:v>100</c:v>
                </c:pt>
                <c:pt idx="1">
                  <c:v>95</c:v>
                </c:pt>
                <c:pt idx="2">
                  <c:v>92</c:v>
                </c:pt>
              </c:numCache>
            </c:numRef>
          </c:val>
        </c:ser>
        <c:dLbls>
          <c:numFmt formatCode="#,##0" sourceLinked="0"/>
          <c:txPr>
            <a:bodyPr/>
            <a:lstStyle/>
            <a:p>
              <a:pPr>
                <a:defRPr b="0" i="0" strike="noStrike" sz="1100" u="none">
                  <a:solidFill>
                    <a:srgbClr val="2026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20263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12700" cap="flat">
              <a:solidFill>
                <a:srgbClr val="E4E7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39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3840480" cy="3840480"/>
          </a:xfrm>
          <a:prstGeom prst="ellipse">
            <a:avLst/>
          </a:prstGeom>
          <a:solidFill>
            <a:srgbClr val="263572"/>
          </a:solidFill>
          <a:ln/>
        </p:spPr>
      </p:sp>
      <p:sp>
        <p:nvSpPr>
          <p:cNvPr id="3" name="Shape 1"/>
          <p:cNvSpPr/>
          <p:nvPr/>
        </p:nvSpPr>
        <p:spPr>
          <a:xfrm>
            <a:off x="-1645920" y="5120640"/>
            <a:ext cx="3657600" cy="3657600"/>
          </a:xfrm>
          <a:prstGeom prst="ellipse">
            <a:avLst/>
          </a:prstGeom>
          <a:solidFill>
            <a:srgbClr val="263572"/>
          </a:solidFill>
          <a:ln/>
        </p:spPr>
      </p:sp>
      <p:sp>
        <p:nvSpPr>
          <p:cNvPr id="4" name="Shape 2"/>
          <p:cNvSpPr/>
          <p:nvPr/>
        </p:nvSpPr>
        <p:spPr>
          <a:xfrm>
            <a:off x="822960" y="548640"/>
            <a:ext cx="2743200" cy="1051560"/>
          </a:xfrm>
          <a:prstGeom prst="roundRect">
            <a:avLst>
              <a:gd name="adj" fmla="val 10435"/>
            </a:avLst>
          </a:prstGeom>
          <a:solidFill>
            <a:srgbClr val="FFFFFF"/>
          </a:solidFill>
          <a:ln/>
          <a:effectLst>
            <a:outerShdw sx="100000" sy="100000" kx="0" ky="0" algn="bl" rotWithShape="0" blurRad="76200" dist="38100" dir="5400000">
              <a:srgbClr val="000000">
                <a:alpha val="25000"/>
              </a:srgbClr>
            </a:outerShdw>
          </a:effectLst>
        </p:spPr>
      </p:sp>
      <p:pic>
        <p:nvPicPr>
          <p:cNvPr id="5" name="Image 0" descr="iilm_logo.jpg">    </p:cNvPr>
          <p:cNvPicPr>
            <a:picLocks noChangeAspect="1"/>
          </p:cNvPicPr>
          <p:nvPr/>
        </p:nvPicPr>
        <p:blipFill>
          <a:blip r:embed="rId1"/>
          <a:stretch>
            <a:fillRect/>
          </a:stretch>
        </p:blipFill>
        <p:spPr>
          <a:xfrm>
            <a:off x="960120" y="713232"/>
            <a:ext cx="2468880" cy="690372"/>
          </a:xfrm>
          <a:prstGeom prst="rect">
            <a:avLst/>
          </a:prstGeom>
        </p:spPr>
      </p:pic>
      <p:sp>
        <p:nvSpPr>
          <p:cNvPr id="6" name="Text 3"/>
          <p:cNvSpPr/>
          <p:nvPr/>
        </p:nvSpPr>
        <p:spPr>
          <a:xfrm>
            <a:off x="822960" y="1874520"/>
            <a:ext cx="7315200" cy="457200"/>
          </a:xfrm>
          <a:prstGeom prst="rect">
            <a:avLst/>
          </a:prstGeom>
          <a:noFill/>
          <a:ln/>
        </p:spPr>
        <p:txBody>
          <a:bodyPr wrap="square" rtlCol="0" anchor="ctr"/>
          <a:lstStyle/>
          <a:p>
            <a:pPr indent="0" marL="0">
              <a:buNone/>
            </a:pPr>
            <a:r>
              <a:rPr lang="en-US" sz="2000" b="1" spc="200" kern="0" dirty="0">
                <a:solidFill>
                  <a:srgbClr val="CADCFC"/>
                </a:solidFill>
                <a:latin typeface="Cambria" pitchFamily="34" charset="0"/>
                <a:ea typeface="Cambria" pitchFamily="34" charset="-122"/>
                <a:cs typeface="Cambria" pitchFamily="34" charset="-120"/>
              </a:rPr>
              <a:t>IILM UNIVERSITY</a:t>
            </a:r>
            <a:endParaRPr lang="en-US" sz="2000" dirty="0"/>
          </a:p>
        </p:txBody>
      </p:sp>
      <p:sp>
        <p:nvSpPr>
          <p:cNvPr id="7" name="Text 4"/>
          <p:cNvSpPr/>
          <p:nvPr/>
        </p:nvSpPr>
        <p:spPr>
          <a:xfrm>
            <a:off x="822960" y="2286000"/>
            <a:ext cx="7315200" cy="320040"/>
          </a:xfrm>
          <a:prstGeom prst="rect">
            <a:avLst/>
          </a:prstGeom>
          <a:noFill/>
          <a:ln/>
        </p:spPr>
        <p:txBody>
          <a:bodyPr wrap="square" rtlCol="0" anchor="ctr"/>
          <a:lstStyle/>
          <a:p>
            <a:pPr indent="0" marL="0">
              <a:buNone/>
            </a:pPr>
            <a:r>
              <a:rPr lang="en-US" sz="1200" dirty="0">
                <a:solidFill>
                  <a:srgbClr val="9FA8D0"/>
                </a:solidFill>
                <a:latin typeface="Calibri" pitchFamily="34" charset="0"/>
                <a:ea typeface="Calibri" pitchFamily="34" charset="-122"/>
                <a:cs typeface="Calibri" pitchFamily="34" charset="-120"/>
              </a:rPr>
              <a:t>Greater Noida, Uttar Pradesh</a:t>
            </a:r>
            <a:endParaRPr lang="en-US" sz="1200" dirty="0"/>
          </a:p>
        </p:txBody>
      </p:sp>
      <p:sp>
        <p:nvSpPr>
          <p:cNvPr id="8" name="Text 5"/>
          <p:cNvSpPr/>
          <p:nvPr/>
        </p:nvSpPr>
        <p:spPr>
          <a:xfrm>
            <a:off x="822960" y="2880360"/>
            <a:ext cx="10515600" cy="1005840"/>
          </a:xfrm>
          <a:prstGeom prst="rect">
            <a:avLst/>
          </a:prstGeom>
          <a:noFill/>
          <a:ln/>
        </p:spPr>
        <p:txBody>
          <a:bodyPr wrap="square"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Telecom Complaint Analyser</a:t>
            </a:r>
            <a:endParaRPr lang="en-US" sz="4000" dirty="0"/>
          </a:p>
        </p:txBody>
      </p:sp>
      <p:sp>
        <p:nvSpPr>
          <p:cNvPr id="9" name="Text 6"/>
          <p:cNvSpPr/>
          <p:nvPr/>
        </p:nvSpPr>
        <p:spPr>
          <a:xfrm>
            <a:off x="822960" y="3703320"/>
            <a:ext cx="9875520" cy="502920"/>
          </a:xfrm>
          <a:prstGeom prst="rect">
            <a:avLst/>
          </a:prstGeom>
          <a:noFill/>
          <a:ln/>
        </p:spPr>
        <p:txBody>
          <a:bodyPr wrap="square"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An AI-Driven System for Automated Telecom Complaint Classification &amp; Root Cause Analysis</a:t>
            </a:r>
            <a:endParaRPr lang="en-US" sz="1400" dirty="0"/>
          </a:p>
        </p:txBody>
      </p:sp>
      <p:sp>
        <p:nvSpPr>
          <p:cNvPr id="10" name="Shape 7"/>
          <p:cNvSpPr/>
          <p:nvPr/>
        </p:nvSpPr>
        <p:spPr>
          <a:xfrm>
            <a:off x="822960" y="4434840"/>
            <a:ext cx="7863840" cy="1874520"/>
          </a:xfrm>
          <a:prstGeom prst="roundRect">
            <a:avLst>
              <a:gd name="adj" fmla="val 4878"/>
            </a:avLst>
          </a:prstGeom>
          <a:solidFill>
            <a:srgbClr val="222D63"/>
          </a:solidFill>
          <a:ln w="12700">
            <a:solidFill>
              <a:srgbClr val="3A4680"/>
            </a:solidFill>
            <a:prstDash val="solid"/>
          </a:ln>
        </p:spPr>
      </p:sp>
      <p:sp>
        <p:nvSpPr>
          <p:cNvPr id="11" name="Text 8"/>
          <p:cNvSpPr/>
          <p:nvPr/>
        </p:nvSpPr>
        <p:spPr>
          <a:xfrm>
            <a:off x="1097280" y="4617720"/>
            <a:ext cx="2834640" cy="365760"/>
          </a:xfrm>
          <a:prstGeom prst="rect">
            <a:avLst/>
          </a:prstGeom>
          <a:noFill/>
          <a:ln/>
        </p:spPr>
        <p:txBody>
          <a:bodyPr wrap="square" rtlCol="0" anchor="ctr"/>
          <a:lstStyle/>
          <a:p>
            <a:pPr indent="0" marL="0">
              <a:buNone/>
            </a:pPr>
            <a:r>
              <a:rPr lang="en-US" sz="1050" b="1" spc="100" kern="0" dirty="0">
                <a:solidFill>
                  <a:srgbClr val="8C97C9"/>
                </a:solidFill>
                <a:latin typeface="Calibri" pitchFamily="34" charset="0"/>
                <a:ea typeface="Calibri" pitchFamily="34" charset="-122"/>
                <a:cs typeface="Calibri" pitchFamily="34" charset="-120"/>
              </a:rPr>
              <a:t>STUDENT NAME</a:t>
            </a:r>
            <a:endParaRPr lang="en-US" sz="1050" dirty="0"/>
          </a:p>
        </p:txBody>
      </p:sp>
      <p:sp>
        <p:nvSpPr>
          <p:cNvPr id="12" name="Text 9"/>
          <p:cNvSpPr/>
          <p:nvPr/>
        </p:nvSpPr>
        <p:spPr>
          <a:xfrm>
            <a:off x="4023360" y="4617720"/>
            <a:ext cx="4480560" cy="36576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Akshat Bisht</a:t>
            </a:r>
            <a:endParaRPr lang="en-US" sz="1250" dirty="0"/>
          </a:p>
        </p:txBody>
      </p:sp>
      <p:sp>
        <p:nvSpPr>
          <p:cNvPr id="13" name="Text 10"/>
          <p:cNvSpPr/>
          <p:nvPr/>
        </p:nvSpPr>
        <p:spPr>
          <a:xfrm>
            <a:off x="1097280" y="5038344"/>
            <a:ext cx="2834640" cy="365760"/>
          </a:xfrm>
          <a:prstGeom prst="rect">
            <a:avLst/>
          </a:prstGeom>
          <a:noFill/>
          <a:ln/>
        </p:spPr>
        <p:txBody>
          <a:bodyPr wrap="square" rtlCol="0" anchor="ctr"/>
          <a:lstStyle/>
          <a:p>
            <a:pPr indent="0" marL="0">
              <a:buNone/>
            </a:pPr>
            <a:r>
              <a:rPr lang="en-US" sz="1050" b="1" spc="100" kern="0" dirty="0">
                <a:solidFill>
                  <a:srgbClr val="8C97C9"/>
                </a:solidFill>
                <a:latin typeface="Calibri" pitchFamily="34" charset="0"/>
                <a:ea typeface="Calibri" pitchFamily="34" charset="-122"/>
                <a:cs typeface="Calibri" pitchFamily="34" charset="-120"/>
              </a:rPr>
              <a:t>ENROLLMENT NUMBER</a:t>
            </a:r>
            <a:endParaRPr lang="en-US" sz="1050" dirty="0"/>
          </a:p>
        </p:txBody>
      </p:sp>
      <p:sp>
        <p:nvSpPr>
          <p:cNvPr id="14" name="Text 11"/>
          <p:cNvSpPr/>
          <p:nvPr/>
        </p:nvSpPr>
        <p:spPr>
          <a:xfrm>
            <a:off x="4023360" y="5038344"/>
            <a:ext cx="4480560" cy="36576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CS-2341045</a:t>
            </a:r>
            <a:endParaRPr lang="en-US" sz="1250" dirty="0"/>
          </a:p>
        </p:txBody>
      </p:sp>
      <p:sp>
        <p:nvSpPr>
          <p:cNvPr id="15" name="Text 12"/>
          <p:cNvSpPr/>
          <p:nvPr/>
        </p:nvSpPr>
        <p:spPr>
          <a:xfrm>
            <a:off x="1097280" y="5458968"/>
            <a:ext cx="2834640" cy="365760"/>
          </a:xfrm>
          <a:prstGeom prst="rect">
            <a:avLst/>
          </a:prstGeom>
          <a:noFill/>
          <a:ln/>
        </p:spPr>
        <p:txBody>
          <a:bodyPr wrap="square" rtlCol="0" anchor="ctr"/>
          <a:lstStyle/>
          <a:p>
            <a:pPr indent="0" marL="0">
              <a:buNone/>
            </a:pPr>
            <a:r>
              <a:rPr lang="en-US" sz="1050" b="1" spc="100" kern="0" dirty="0">
                <a:solidFill>
                  <a:srgbClr val="8C97C9"/>
                </a:solidFill>
                <a:latin typeface="Calibri" pitchFamily="34" charset="0"/>
                <a:ea typeface="Calibri" pitchFamily="34" charset="-122"/>
                <a:cs typeface="Calibri" pitchFamily="34" charset="-120"/>
              </a:rPr>
              <a:t>PROGRAM &amp; SEMESTER</a:t>
            </a:r>
            <a:endParaRPr lang="en-US" sz="1050" dirty="0"/>
          </a:p>
        </p:txBody>
      </p:sp>
      <p:sp>
        <p:nvSpPr>
          <p:cNvPr id="16" name="Text 13"/>
          <p:cNvSpPr/>
          <p:nvPr/>
        </p:nvSpPr>
        <p:spPr>
          <a:xfrm>
            <a:off x="4023360" y="5458968"/>
            <a:ext cx="4480560" cy="36576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B.Tech. Computer Science &amp; Engineering, Semester 7</a:t>
            </a:r>
            <a:endParaRPr lang="en-US" sz="1250" dirty="0"/>
          </a:p>
        </p:txBody>
      </p:sp>
      <p:sp>
        <p:nvSpPr>
          <p:cNvPr id="17" name="Text 14"/>
          <p:cNvSpPr/>
          <p:nvPr/>
        </p:nvSpPr>
        <p:spPr>
          <a:xfrm>
            <a:off x="1097280" y="5879592"/>
            <a:ext cx="2834640" cy="365760"/>
          </a:xfrm>
          <a:prstGeom prst="rect">
            <a:avLst/>
          </a:prstGeom>
          <a:noFill/>
          <a:ln/>
        </p:spPr>
        <p:txBody>
          <a:bodyPr wrap="square" rtlCol="0" anchor="ctr"/>
          <a:lstStyle/>
          <a:p>
            <a:pPr indent="0" marL="0">
              <a:buNone/>
            </a:pPr>
            <a:r>
              <a:rPr lang="en-US" sz="1050" b="1" spc="100" kern="0" dirty="0">
                <a:solidFill>
                  <a:srgbClr val="8C97C9"/>
                </a:solidFill>
                <a:latin typeface="Calibri" pitchFamily="34" charset="0"/>
                <a:ea typeface="Calibri" pitchFamily="34" charset="-122"/>
                <a:cs typeface="Calibri" pitchFamily="34" charset="-120"/>
              </a:rPr>
              <a:t>ORGANIZATION</a:t>
            </a:r>
            <a:endParaRPr lang="en-US" sz="1050" dirty="0"/>
          </a:p>
        </p:txBody>
      </p:sp>
      <p:sp>
        <p:nvSpPr>
          <p:cNvPr id="18" name="Text 15"/>
          <p:cNvSpPr/>
          <p:nvPr/>
        </p:nvSpPr>
        <p:spPr>
          <a:xfrm>
            <a:off x="4023360" y="5879592"/>
            <a:ext cx="4480560" cy="36576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DynPro India Pvt. Ltd.</a:t>
            </a:r>
            <a:endParaRPr lang="en-US" sz="1250" dirty="0"/>
          </a:p>
        </p:txBody>
      </p:sp>
      <p:sp>
        <p:nvSpPr>
          <p:cNvPr id="19" name="Text 16"/>
          <p:cNvSpPr/>
          <p:nvPr/>
        </p:nvSpPr>
        <p:spPr>
          <a:xfrm>
            <a:off x="822960" y="6400800"/>
            <a:ext cx="3657600" cy="320040"/>
          </a:xfrm>
          <a:prstGeom prst="rect">
            <a:avLst/>
          </a:prstGeom>
          <a:noFill/>
          <a:ln/>
        </p:spPr>
        <p:txBody>
          <a:bodyPr wrap="square" rtlCol="0" anchor="ctr"/>
          <a:lstStyle/>
          <a:p>
            <a:pPr indent="0" marL="0">
              <a:buNone/>
            </a:pPr>
            <a:r>
              <a:rPr lang="en-US" sz="1100" dirty="0">
                <a:solidFill>
                  <a:srgbClr val="8C97C9"/>
                </a:solidFill>
                <a:latin typeface="Calibri" pitchFamily="34" charset="0"/>
                <a:ea typeface="Calibri" pitchFamily="34" charset="-122"/>
                <a:cs typeface="Calibri" pitchFamily="34" charset="-120"/>
              </a:rPr>
              <a:t>November 2025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Abstract</a:t>
            </a:r>
            <a:endParaRPr lang="en-US" sz="3200" dirty="0"/>
          </a:p>
        </p:txBody>
      </p:sp>
      <p:sp>
        <p:nvSpPr>
          <p:cNvPr id="3" name="Shape 1"/>
          <p:cNvSpPr/>
          <p:nvPr/>
        </p:nvSpPr>
        <p:spPr>
          <a:xfrm>
            <a:off x="548640" y="1554480"/>
            <a:ext cx="6949440" cy="4480560"/>
          </a:xfrm>
          <a:prstGeom prst="roundRect">
            <a:avLst>
              <a:gd name="adj" fmla="val 1633"/>
            </a:avLst>
          </a:prstGeom>
          <a:solidFill>
            <a:srgbClr val="F4F7FC"/>
          </a:solidFill>
          <a:ln/>
        </p:spPr>
      </p:sp>
      <p:sp>
        <p:nvSpPr>
          <p:cNvPr id="4" name="Text 2"/>
          <p:cNvSpPr/>
          <p:nvPr/>
        </p:nvSpPr>
        <p:spPr>
          <a:xfrm>
            <a:off x="868680" y="1783080"/>
            <a:ext cx="6309360" cy="1463040"/>
          </a:xfrm>
          <a:prstGeom prst="rect">
            <a:avLst/>
          </a:prstGeom>
          <a:noFill/>
          <a:ln/>
        </p:spPr>
        <p:txBody>
          <a:bodyPr wrap="square" rtlCol="0" anchor="t"/>
          <a:lstStyle/>
          <a:p>
            <a:pPr indent="0" marL="0">
              <a:lnSpc>
                <a:spcPct val="115000"/>
              </a:lnSpc>
              <a:buNone/>
            </a:pPr>
            <a:r>
              <a:rPr lang="en-US" sz="1400" dirty="0">
                <a:solidFill>
                  <a:srgbClr val="20263B"/>
                </a:solidFill>
                <a:latin typeface="Calibri" pitchFamily="34" charset="0"/>
                <a:ea typeface="Calibri" pitchFamily="34" charset="-122"/>
                <a:cs typeface="Calibri" pitchFamily="34" charset="-120"/>
              </a:rPr>
              <a:t>The Telecom Complaint Analyzer is an AI-driven system that automates the interpretation and classification of customer complaints written in Hindi, Hinglish, or English. It extracts key details — phone number, location, complaint category, and network issue type — with high accuracy.</a:t>
            </a:r>
            <a:endParaRPr lang="en-US" sz="1400" dirty="0"/>
          </a:p>
        </p:txBody>
      </p:sp>
      <p:sp>
        <p:nvSpPr>
          <p:cNvPr id="5" name="Text 3"/>
          <p:cNvSpPr/>
          <p:nvPr/>
        </p:nvSpPr>
        <p:spPr>
          <a:xfrm>
            <a:off x="868680" y="3291840"/>
            <a:ext cx="6309360" cy="1371600"/>
          </a:xfrm>
          <a:prstGeom prst="rect">
            <a:avLst/>
          </a:prstGeom>
          <a:noFill/>
          <a:ln/>
        </p:spPr>
        <p:txBody>
          <a:bodyPr wrap="square" rtlCol="0" anchor="t"/>
          <a:lstStyle/>
          <a:p>
            <a:pPr indent="0" marL="0">
              <a:lnSpc>
                <a:spcPct val="115000"/>
              </a:lnSpc>
              <a:buNone/>
            </a:pPr>
            <a:r>
              <a:rPr lang="en-US" sz="1400" dirty="0">
                <a:solidFill>
                  <a:srgbClr val="20263B"/>
                </a:solidFill>
                <a:latin typeface="Calibri" pitchFamily="34" charset="0"/>
                <a:ea typeface="Calibri" pitchFamily="34" charset="-122"/>
                <a:cs typeface="Calibri" pitchFamily="34" charset="-120"/>
              </a:rPr>
              <a:t>It combines rule-based keyword extraction, NLP, and LLM-based reasoning (Mistral via Ollama) so even complex or ambiguous complaints are correctly interpreted, with an LLM fallback generating a Root Cause Analysis (RCA) when rules fail.</a:t>
            </a:r>
            <a:endParaRPr lang="en-US" sz="1400" dirty="0"/>
          </a:p>
        </p:txBody>
      </p:sp>
      <p:sp>
        <p:nvSpPr>
          <p:cNvPr id="6" name="Text 4"/>
          <p:cNvSpPr/>
          <p:nvPr/>
        </p:nvSpPr>
        <p:spPr>
          <a:xfrm>
            <a:off x="868680" y="4709160"/>
            <a:ext cx="6309360" cy="1143000"/>
          </a:xfrm>
          <a:prstGeom prst="rect">
            <a:avLst/>
          </a:prstGeom>
          <a:noFill/>
          <a:ln/>
        </p:spPr>
        <p:txBody>
          <a:bodyPr wrap="square" rtlCol="0" anchor="t"/>
          <a:lstStyle/>
          <a:p>
            <a:pPr indent="0" marL="0">
              <a:lnSpc>
                <a:spcPct val="115000"/>
              </a:lnSpc>
              <a:buNone/>
            </a:pPr>
            <a:r>
              <a:rPr lang="en-US" sz="1400" dirty="0">
                <a:solidFill>
                  <a:srgbClr val="20263B"/>
                </a:solidFill>
                <a:latin typeface="Calibri" pitchFamily="34" charset="0"/>
                <a:ea typeface="Calibri" pitchFamily="34" charset="-122"/>
                <a:cs typeface="Calibri" pitchFamily="34" charset="-120"/>
              </a:rPr>
              <a:t>A Gradio interface lets support teams input complaints and get instant, categorized insights — reducing manual workload and accelerating customer response time.</a:t>
            </a:r>
            <a:endParaRPr lang="en-US" sz="1400" dirty="0"/>
          </a:p>
        </p:txBody>
      </p:sp>
      <p:sp>
        <p:nvSpPr>
          <p:cNvPr id="7" name="Shape 5"/>
          <p:cNvSpPr/>
          <p:nvPr/>
        </p:nvSpPr>
        <p:spPr>
          <a:xfrm>
            <a:off x="7772400" y="1554480"/>
            <a:ext cx="3840480" cy="1371600"/>
          </a:xfrm>
          <a:prstGeom prst="roundRect">
            <a:avLst>
              <a:gd name="adj" fmla="val 6667"/>
            </a:avLst>
          </a:prstGeom>
          <a:solidFill>
            <a:srgbClr val="1E2761"/>
          </a:solidFill>
          <a:ln/>
        </p:spPr>
      </p:sp>
      <p:sp>
        <p:nvSpPr>
          <p:cNvPr id="8" name="Text 6"/>
          <p:cNvSpPr/>
          <p:nvPr/>
        </p:nvSpPr>
        <p:spPr>
          <a:xfrm>
            <a:off x="7955280" y="1664208"/>
            <a:ext cx="3474720" cy="640080"/>
          </a:xfrm>
          <a:prstGeom prst="rect">
            <a:avLst/>
          </a:prstGeom>
          <a:noFill/>
          <a:ln/>
        </p:spPr>
        <p:txBody>
          <a:bodyPr wrap="square"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3</a:t>
            </a:r>
            <a:endParaRPr lang="en-US" sz="3000" dirty="0"/>
          </a:p>
        </p:txBody>
      </p:sp>
      <p:sp>
        <p:nvSpPr>
          <p:cNvPr id="9" name="Text 7"/>
          <p:cNvSpPr/>
          <p:nvPr/>
        </p:nvSpPr>
        <p:spPr>
          <a:xfrm>
            <a:off x="7955280" y="2331720"/>
            <a:ext cx="3474720"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Languages handled</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(Hindi, Hinglish, English)</a:t>
            </a:r>
            <a:endParaRPr lang="en-US" sz="1050" dirty="0"/>
          </a:p>
        </p:txBody>
      </p:sp>
      <p:sp>
        <p:nvSpPr>
          <p:cNvPr id="10" name="Shape 8"/>
          <p:cNvSpPr/>
          <p:nvPr/>
        </p:nvSpPr>
        <p:spPr>
          <a:xfrm>
            <a:off x="7772400" y="3154680"/>
            <a:ext cx="3840480" cy="1371600"/>
          </a:xfrm>
          <a:prstGeom prst="roundRect">
            <a:avLst>
              <a:gd name="adj" fmla="val 6667"/>
            </a:avLst>
          </a:prstGeom>
          <a:solidFill>
            <a:srgbClr val="1E2761"/>
          </a:solidFill>
          <a:ln/>
        </p:spPr>
      </p:sp>
      <p:sp>
        <p:nvSpPr>
          <p:cNvPr id="11" name="Text 9"/>
          <p:cNvSpPr/>
          <p:nvPr/>
        </p:nvSpPr>
        <p:spPr>
          <a:xfrm>
            <a:off x="7955280" y="3264408"/>
            <a:ext cx="3474720" cy="640080"/>
          </a:xfrm>
          <a:prstGeom prst="rect">
            <a:avLst/>
          </a:prstGeom>
          <a:noFill/>
          <a:ln/>
        </p:spPr>
        <p:txBody>
          <a:bodyPr wrap="square"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Hybrid</a:t>
            </a:r>
            <a:endParaRPr lang="en-US" sz="3000" dirty="0"/>
          </a:p>
        </p:txBody>
      </p:sp>
      <p:sp>
        <p:nvSpPr>
          <p:cNvPr id="12" name="Text 10"/>
          <p:cNvSpPr/>
          <p:nvPr/>
        </p:nvSpPr>
        <p:spPr>
          <a:xfrm>
            <a:off x="7955280" y="3931920"/>
            <a:ext cx="3474720"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Rules + NLP + LLM</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architecture</a:t>
            </a:r>
            <a:endParaRPr lang="en-US" sz="1050" dirty="0"/>
          </a:p>
        </p:txBody>
      </p:sp>
      <p:sp>
        <p:nvSpPr>
          <p:cNvPr id="13" name="Shape 11"/>
          <p:cNvSpPr/>
          <p:nvPr/>
        </p:nvSpPr>
        <p:spPr>
          <a:xfrm>
            <a:off x="7772400" y="4754880"/>
            <a:ext cx="3840480" cy="1371600"/>
          </a:xfrm>
          <a:prstGeom prst="roundRect">
            <a:avLst>
              <a:gd name="adj" fmla="val 6667"/>
            </a:avLst>
          </a:prstGeom>
          <a:solidFill>
            <a:srgbClr val="1E2761"/>
          </a:solidFill>
          <a:ln/>
        </p:spPr>
      </p:sp>
      <p:sp>
        <p:nvSpPr>
          <p:cNvPr id="14" name="Text 12"/>
          <p:cNvSpPr/>
          <p:nvPr/>
        </p:nvSpPr>
        <p:spPr>
          <a:xfrm>
            <a:off x="7955280" y="4864608"/>
            <a:ext cx="3474720" cy="640080"/>
          </a:xfrm>
          <a:prstGeom prst="rect">
            <a:avLst/>
          </a:prstGeom>
          <a:noFill/>
          <a:ln/>
        </p:spPr>
        <p:txBody>
          <a:bodyPr wrap="square"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80%</a:t>
            </a:r>
            <a:endParaRPr lang="en-US" sz="3000" dirty="0"/>
          </a:p>
        </p:txBody>
      </p:sp>
      <p:sp>
        <p:nvSpPr>
          <p:cNvPr id="15" name="Text 13"/>
          <p:cNvSpPr/>
          <p:nvPr/>
        </p:nvSpPr>
        <p:spPr>
          <a:xfrm>
            <a:off x="7955280" y="5532120"/>
            <a:ext cx="3474720"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Reduction in agent</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workload</a:t>
            </a:r>
            <a:endParaRPr lang="en-US" sz="1050" dirty="0"/>
          </a:p>
        </p:txBody>
      </p:sp>
      <p:sp>
        <p:nvSpPr>
          <p:cNvPr id="16" name="Text 14"/>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6B7394"/>
                </a:solidFill>
                <a:latin typeface="Calibri" pitchFamily="34" charset="0"/>
                <a:ea typeface="Calibri" pitchFamily="34" charset="-122"/>
                <a:cs typeface="Calibri" pitchFamily="34" charset="-120"/>
              </a:rPr>
              <a:t>Telecom Complaint Analyser</a:t>
            </a:r>
            <a:endParaRPr lang="en-US" sz="900" dirty="0"/>
          </a:p>
        </p:txBody>
      </p:sp>
      <p:sp>
        <p:nvSpPr>
          <p:cNvPr id="17" name="Text 15"/>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6B739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Objectives &amp; Problem Statement</a:t>
            </a:r>
            <a:endParaRPr lang="en-US" sz="3200" dirty="0"/>
          </a:p>
        </p:txBody>
      </p:sp>
      <p:sp>
        <p:nvSpPr>
          <p:cNvPr id="3" name="Text 1"/>
          <p:cNvSpPr/>
          <p:nvPr/>
        </p:nvSpPr>
        <p:spPr>
          <a:xfrm>
            <a:off x="548640" y="1554480"/>
            <a:ext cx="5486400" cy="365760"/>
          </a:xfrm>
          <a:prstGeom prst="rect">
            <a:avLst/>
          </a:prstGeom>
          <a:noFill/>
          <a:ln/>
        </p:spPr>
        <p:txBody>
          <a:bodyPr wrap="square" rtlCol="0" anchor="ctr"/>
          <a:lstStyle/>
          <a:p>
            <a:pPr indent="0" marL="0">
              <a:buNone/>
            </a:pPr>
            <a:r>
              <a:rPr lang="en-US" sz="1500" b="1" spc="100" kern="0" dirty="0">
                <a:solidFill>
                  <a:srgbClr val="3AA6A6"/>
                </a:solidFill>
                <a:latin typeface="Calibri" pitchFamily="34" charset="0"/>
                <a:ea typeface="Calibri" pitchFamily="34" charset="-122"/>
                <a:cs typeface="Calibri" pitchFamily="34" charset="-120"/>
              </a:rPr>
              <a:t>OBJECTIVES</a:t>
            </a:r>
            <a:endParaRPr lang="en-US" sz="1500" dirty="0"/>
          </a:p>
        </p:txBody>
      </p:sp>
      <p:sp>
        <p:nvSpPr>
          <p:cNvPr id="4" name="Shape 2"/>
          <p:cNvSpPr/>
          <p:nvPr/>
        </p:nvSpPr>
        <p:spPr>
          <a:xfrm>
            <a:off x="548640" y="2020824"/>
            <a:ext cx="146304" cy="146304"/>
          </a:xfrm>
          <a:prstGeom prst="ellipse">
            <a:avLst/>
          </a:prstGeom>
          <a:solidFill>
            <a:srgbClr val="3AA6A6"/>
          </a:solidFill>
          <a:ln/>
        </p:spPr>
      </p:sp>
      <p:sp>
        <p:nvSpPr>
          <p:cNvPr id="5" name="Text 3"/>
          <p:cNvSpPr/>
          <p:nvPr/>
        </p:nvSpPr>
        <p:spPr>
          <a:xfrm>
            <a:off x="868680" y="1892808"/>
            <a:ext cx="5349240" cy="457200"/>
          </a:xfrm>
          <a:prstGeom prst="rect">
            <a:avLst/>
          </a:prstGeom>
          <a:noFill/>
          <a:ln/>
        </p:spPr>
        <p:txBody>
          <a:bodyPr wrap="square" rtlCol="0" anchor="t"/>
          <a:lstStyle/>
          <a:p>
            <a:pPr indent="0" marL="0">
              <a:buNone/>
            </a:pPr>
            <a:r>
              <a:rPr lang="en-US" sz="1250" dirty="0">
                <a:solidFill>
                  <a:srgbClr val="20263B"/>
                </a:solidFill>
                <a:latin typeface="Calibri" pitchFamily="34" charset="0"/>
                <a:ea typeface="Calibri" pitchFamily="34" charset="-122"/>
                <a:cs typeface="Calibri" pitchFamily="34" charset="-120"/>
              </a:rPr>
              <a:t>Automatically extract phone number, country/location, and complaint type</a:t>
            </a:r>
            <a:endParaRPr lang="en-US" sz="1250" dirty="0"/>
          </a:p>
        </p:txBody>
      </p:sp>
      <p:sp>
        <p:nvSpPr>
          <p:cNvPr id="6" name="Shape 4"/>
          <p:cNvSpPr/>
          <p:nvPr/>
        </p:nvSpPr>
        <p:spPr>
          <a:xfrm>
            <a:off x="548640" y="2587752"/>
            <a:ext cx="146304" cy="146304"/>
          </a:xfrm>
          <a:prstGeom prst="ellipse">
            <a:avLst/>
          </a:prstGeom>
          <a:solidFill>
            <a:srgbClr val="3AA6A6"/>
          </a:solidFill>
          <a:ln/>
        </p:spPr>
      </p:sp>
      <p:sp>
        <p:nvSpPr>
          <p:cNvPr id="7" name="Text 5"/>
          <p:cNvSpPr/>
          <p:nvPr/>
        </p:nvSpPr>
        <p:spPr>
          <a:xfrm>
            <a:off x="868680" y="2459736"/>
            <a:ext cx="5349240" cy="457200"/>
          </a:xfrm>
          <a:prstGeom prst="rect">
            <a:avLst/>
          </a:prstGeom>
          <a:noFill/>
          <a:ln/>
        </p:spPr>
        <p:txBody>
          <a:bodyPr wrap="square" rtlCol="0" anchor="t"/>
          <a:lstStyle/>
          <a:p>
            <a:pPr indent="0" marL="0">
              <a:buNone/>
            </a:pPr>
            <a:r>
              <a:rPr lang="en-US" sz="1250" dirty="0">
                <a:solidFill>
                  <a:srgbClr val="20263B"/>
                </a:solidFill>
                <a:latin typeface="Calibri" pitchFamily="34" charset="0"/>
                <a:ea typeface="Calibri" pitchFamily="34" charset="-122"/>
                <a:cs typeface="Calibri" pitchFamily="34" charset="-120"/>
              </a:rPr>
              <a:t>Detect complaint categories with high accuracy — even from Hinglish and misspelled text</a:t>
            </a:r>
            <a:endParaRPr lang="en-US" sz="1250" dirty="0"/>
          </a:p>
        </p:txBody>
      </p:sp>
      <p:sp>
        <p:nvSpPr>
          <p:cNvPr id="8" name="Shape 6"/>
          <p:cNvSpPr/>
          <p:nvPr/>
        </p:nvSpPr>
        <p:spPr>
          <a:xfrm>
            <a:off x="548640" y="3154680"/>
            <a:ext cx="146304" cy="146304"/>
          </a:xfrm>
          <a:prstGeom prst="ellipse">
            <a:avLst/>
          </a:prstGeom>
          <a:solidFill>
            <a:srgbClr val="3AA6A6"/>
          </a:solidFill>
          <a:ln/>
        </p:spPr>
      </p:sp>
      <p:sp>
        <p:nvSpPr>
          <p:cNvPr id="9" name="Text 7"/>
          <p:cNvSpPr/>
          <p:nvPr/>
        </p:nvSpPr>
        <p:spPr>
          <a:xfrm>
            <a:off x="868680" y="3026664"/>
            <a:ext cx="5349240" cy="457200"/>
          </a:xfrm>
          <a:prstGeom prst="rect">
            <a:avLst/>
          </a:prstGeom>
          <a:noFill/>
          <a:ln/>
        </p:spPr>
        <p:txBody>
          <a:bodyPr wrap="square" rtlCol="0" anchor="t"/>
          <a:lstStyle/>
          <a:p>
            <a:pPr indent="0" marL="0">
              <a:buNone/>
            </a:pPr>
            <a:r>
              <a:rPr lang="en-US" sz="1250" dirty="0">
                <a:solidFill>
                  <a:srgbClr val="20263B"/>
                </a:solidFill>
                <a:latin typeface="Calibri" pitchFamily="34" charset="0"/>
                <a:ea typeface="Calibri" pitchFamily="34" charset="-122"/>
                <a:cs typeface="Calibri" pitchFamily="34" charset="-120"/>
              </a:rPr>
              <a:t>Generate automated, concise, one-line RCAs for each complaint</a:t>
            </a:r>
            <a:endParaRPr lang="en-US" sz="1250" dirty="0"/>
          </a:p>
        </p:txBody>
      </p:sp>
      <p:sp>
        <p:nvSpPr>
          <p:cNvPr id="10" name="Shape 8"/>
          <p:cNvSpPr/>
          <p:nvPr/>
        </p:nvSpPr>
        <p:spPr>
          <a:xfrm>
            <a:off x="548640" y="3721608"/>
            <a:ext cx="146304" cy="146304"/>
          </a:xfrm>
          <a:prstGeom prst="ellipse">
            <a:avLst/>
          </a:prstGeom>
          <a:solidFill>
            <a:srgbClr val="3AA6A6"/>
          </a:solidFill>
          <a:ln/>
        </p:spPr>
      </p:sp>
      <p:sp>
        <p:nvSpPr>
          <p:cNvPr id="11" name="Text 9"/>
          <p:cNvSpPr/>
          <p:nvPr/>
        </p:nvSpPr>
        <p:spPr>
          <a:xfrm>
            <a:off x="868680" y="3593592"/>
            <a:ext cx="5349240" cy="457200"/>
          </a:xfrm>
          <a:prstGeom prst="rect">
            <a:avLst/>
          </a:prstGeom>
          <a:noFill/>
          <a:ln/>
        </p:spPr>
        <p:txBody>
          <a:bodyPr wrap="square" rtlCol="0" anchor="t"/>
          <a:lstStyle/>
          <a:p>
            <a:pPr indent="0" marL="0">
              <a:buNone/>
            </a:pPr>
            <a:r>
              <a:rPr lang="en-US" sz="1250" dirty="0">
                <a:solidFill>
                  <a:srgbClr val="20263B"/>
                </a:solidFill>
                <a:latin typeface="Calibri" pitchFamily="34" charset="0"/>
                <a:ea typeface="Calibri" pitchFamily="34" charset="-122"/>
                <a:cs typeface="Calibri" pitchFamily="34" charset="-120"/>
              </a:rPr>
              <a:t>Reduce manual processing time for telecom operators</a:t>
            </a:r>
            <a:endParaRPr lang="en-US" sz="1250" dirty="0"/>
          </a:p>
        </p:txBody>
      </p:sp>
      <p:sp>
        <p:nvSpPr>
          <p:cNvPr id="12" name="Shape 10"/>
          <p:cNvSpPr/>
          <p:nvPr/>
        </p:nvSpPr>
        <p:spPr>
          <a:xfrm>
            <a:off x="548640" y="4288536"/>
            <a:ext cx="146304" cy="146304"/>
          </a:xfrm>
          <a:prstGeom prst="ellipse">
            <a:avLst/>
          </a:prstGeom>
          <a:solidFill>
            <a:srgbClr val="3AA6A6"/>
          </a:solidFill>
          <a:ln/>
        </p:spPr>
      </p:sp>
      <p:sp>
        <p:nvSpPr>
          <p:cNvPr id="13" name="Text 11"/>
          <p:cNvSpPr/>
          <p:nvPr/>
        </p:nvSpPr>
        <p:spPr>
          <a:xfrm>
            <a:off x="868680" y="4160520"/>
            <a:ext cx="5349240" cy="457200"/>
          </a:xfrm>
          <a:prstGeom prst="rect">
            <a:avLst/>
          </a:prstGeom>
          <a:noFill/>
          <a:ln/>
        </p:spPr>
        <p:txBody>
          <a:bodyPr wrap="square" rtlCol="0" anchor="t"/>
          <a:lstStyle/>
          <a:p>
            <a:pPr indent="0" marL="0">
              <a:buNone/>
            </a:pPr>
            <a:r>
              <a:rPr lang="en-US" sz="1250" dirty="0">
                <a:solidFill>
                  <a:srgbClr val="20263B"/>
                </a:solidFill>
                <a:latin typeface="Calibri" pitchFamily="34" charset="0"/>
                <a:ea typeface="Calibri" pitchFamily="34" charset="-122"/>
                <a:cs typeface="Calibri" pitchFamily="34" charset="-120"/>
              </a:rPr>
              <a:t>Provide a simple, interactive UI for daily operational use</a:t>
            </a:r>
            <a:endParaRPr lang="en-US" sz="1250" dirty="0"/>
          </a:p>
        </p:txBody>
      </p:sp>
      <p:sp>
        <p:nvSpPr>
          <p:cNvPr id="14" name="Shape 12"/>
          <p:cNvSpPr/>
          <p:nvPr/>
        </p:nvSpPr>
        <p:spPr>
          <a:xfrm>
            <a:off x="6400800" y="1554480"/>
            <a:ext cx="5212080" cy="4572000"/>
          </a:xfrm>
          <a:prstGeom prst="roundRect">
            <a:avLst>
              <a:gd name="adj" fmla="val 2000"/>
            </a:avLst>
          </a:prstGeom>
          <a:solidFill>
            <a:srgbClr val="F4F7FC"/>
          </a:solidFill>
          <a:ln/>
        </p:spPr>
      </p:sp>
      <p:sp>
        <p:nvSpPr>
          <p:cNvPr id="15" name="Text 13"/>
          <p:cNvSpPr/>
          <p:nvPr/>
        </p:nvSpPr>
        <p:spPr>
          <a:xfrm>
            <a:off x="6720840" y="1783080"/>
            <a:ext cx="4572000" cy="365760"/>
          </a:xfrm>
          <a:prstGeom prst="rect">
            <a:avLst/>
          </a:prstGeom>
          <a:noFill/>
          <a:ln/>
        </p:spPr>
        <p:txBody>
          <a:bodyPr wrap="square" rtlCol="0" anchor="ctr"/>
          <a:lstStyle/>
          <a:p>
            <a:pPr indent="0" marL="0">
              <a:buNone/>
            </a:pPr>
            <a:r>
              <a:rPr lang="en-US" sz="1500" b="1" spc="100" kern="0" dirty="0">
                <a:solidFill>
                  <a:srgbClr val="1E2761"/>
                </a:solidFill>
                <a:latin typeface="Calibri" pitchFamily="34" charset="0"/>
                <a:ea typeface="Calibri" pitchFamily="34" charset="-122"/>
                <a:cs typeface="Calibri" pitchFamily="34" charset="-120"/>
              </a:rPr>
              <a:t>PROBLEM STATEMENT</a:t>
            </a:r>
            <a:endParaRPr lang="en-US" sz="1500" dirty="0"/>
          </a:p>
        </p:txBody>
      </p:sp>
      <p:sp>
        <p:nvSpPr>
          <p:cNvPr id="16" name="Text 14"/>
          <p:cNvSpPr/>
          <p:nvPr/>
        </p:nvSpPr>
        <p:spPr>
          <a:xfrm>
            <a:off x="6720840" y="2240280"/>
            <a:ext cx="4572000" cy="1188720"/>
          </a:xfrm>
          <a:prstGeom prst="rect">
            <a:avLst/>
          </a:prstGeom>
          <a:noFill/>
          <a:ln/>
        </p:spPr>
        <p:txBody>
          <a:bodyPr wrap="square" rtlCol="0" anchor="t"/>
          <a:lstStyle/>
          <a:p>
            <a:pPr indent="0" marL="0">
              <a:lnSpc>
                <a:spcPct val="115000"/>
              </a:lnSpc>
              <a:buNone/>
            </a:pPr>
            <a:r>
              <a:rPr lang="en-US" sz="1250" dirty="0">
                <a:solidFill>
                  <a:srgbClr val="20263B"/>
                </a:solidFill>
                <a:latin typeface="Calibri" pitchFamily="34" charset="0"/>
                <a:ea typeface="Calibri" pitchFamily="34" charset="-122"/>
                <a:cs typeface="Calibri" pitchFamily="34" charset="-120"/>
              </a:rPr>
              <a:t>Manual analysis of telecom complaints is time-consuming, error-prone, and inefficient — especially for informal Hindi/Hinglish text. Agents struggle to identify issue types accurately, delaying troubleshooting.</a:t>
            </a:r>
            <a:endParaRPr lang="en-US" sz="1250" dirty="0"/>
          </a:p>
        </p:txBody>
      </p:sp>
      <p:sp>
        <p:nvSpPr>
          <p:cNvPr id="17" name="Text 15"/>
          <p:cNvSpPr/>
          <p:nvPr/>
        </p:nvSpPr>
        <p:spPr>
          <a:xfrm>
            <a:off x="6720840" y="3520440"/>
            <a:ext cx="4572000" cy="457200"/>
          </a:xfrm>
          <a:prstGeom prst="rect">
            <a:avLst/>
          </a:prstGeom>
          <a:noFill/>
          <a:ln/>
        </p:spPr>
        <p:txBody>
          <a:bodyPr wrap="square" rtlCol="0" anchor="t"/>
          <a:lstStyle/>
          <a:p>
            <a:pPr indent="0" marL="0">
              <a:buNone/>
            </a:pPr>
            <a:r>
              <a:rPr lang="en-US" sz="1150" dirty="0">
                <a:solidFill>
                  <a:srgbClr val="20263B"/>
                </a:solidFill>
                <a:latin typeface="Calibri" pitchFamily="34" charset="0"/>
                <a:ea typeface="Calibri" pitchFamily="34" charset="-122"/>
                <a:cs typeface="Calibri" pitchFamily="34" charset="-120"/>
              </a:rPr>
              <a:t>•  Understand natural language complaints in multiple formats</a:t>
            </a:r>
            <a:endParaRPr lang="en-US" sz="1150" dirty="0"/>
          </a:p>
        </p:txBody>
      </p:sp>
      <p:sp>
        <p:nvSpPr>
          <p:cNvPr id="18" name="Text 16"/>
          <p:cNvSpPr/>
          <p:nvPr/>
        </p:nvSpPr>
        <p:spPr>
          <a:xfrm>
            <a:off x="6720840" y="3977640"/>
            <a:ext cx="4572000" cy="457200"/>
          </a:xfrm>
          <a:prstGeom prst="rect">
            <a:avLst/>
          </a:prstGeom>
          <a:noFill/>
          <a:ln/>
        </p:spPr>
        <p:txBody>
          <a:bodyPr wrap="square" rtlCol="0" anchor="t"/>
          <a:lstStyle/>
          <a:p>
            <a:pPr indent="0" marL="0">
              <a:buNone/>
            </a:pPr>
            <a:r>
              <a:rPr lang="en-US" sz="1150" dirty="0">
                <a:solidFill>
                  <a:srgbClr val="20263B"/>
                </a:solidFill>
                <a:latin typeface="Calibri" pitchFamily="34" charset="0"/>
                <a:ea typeface="Calibri" pitchFamily="34" charset="-122"/>
                <a:cs typeface="Calibri" pitchFamily="34" charset="-120"/>
              </a:rPr>
              <a:t>•  Extract valid phone numbers and customer location</a:t>
            </a:r>
            <a:endParaRPr lang="en-US" sz="1150" dirty="0"/>
          </a:p>
        </p:txBody>
      </p:sp>
      <p:sp>
        <p:nvSpPr>
          <p:cNvPr id="19" name="Text 17"/>
          <p:cNvSpPr/>
          <p:nvPr/>
        </p:nvSpPr>
        <p:spPr>
          <a:xfrm>
            <a:off x="6720840" y="4434840"/>
            <a:ext cx="4572000" cy="457200"/>
          </a:xfrm>
          <a:prstGeom prst="rect">
            <a:avLst/>
          </a:prstGeom>
          <a:noFill/>
          <a:ln/>
        </p:spPr>
        <p:txBody>
          <a:bodyPr wrap="square" rtlCol="0" anchor="t"/>
          <a:lstStyle/>
          <a:p>
            <a:pPr indent="0" marL="0">
              <a:buNone/>
            </a:pPr>
            <a:r>
              <a:rPr lang="en-US" sz="1150" dirty="0">
                <a:solidFill>
                  <a:srgbClr val="20263B"/>
                </a:solidFill>
                <a:latin typeface="Calibri" pitchFamily="34" charset="0"/>
                <a:ea typeface="Calibri" pitchFamily="34" charset="-122"/>
                <a:cs typeface="Calibri" pitchFamily="34" charset="-120"/>
              </a:rPr>
              <a:t>•  Classify issues into predefined telecom categories</a:t>
            </a:r>
            <a:endParaRPr lang="en-US" sz="1150" dirty="0"/>
          </a:p>
        </p:txBody>
      </p:sp>
      <p:sp>
        <p:nvSpPr>
          <p:cNvPr id="20" name="Text 18"/>
          <p:cNvSpPr/>
          <p:nvPr/>
        </p:nvSpPr>
        <p:spPr>
          <a:xfrm>
            <a:off x="6720840" y="4892040"/>
            <a:ext cx="4572000" cy="457200"/>
          </a:xfrm>
          <a:prstGeom prst="rect">
            <a:avLst/>
          </a:prstGeom>
          <a:noFill/>
          <a:ln/>
        </p:spPr>
        <p:txBody>
          <a:bodyPr wrap="square" rtlCol="0" anchor="t"/>
          <a:lstStyle/>
          <a:p>
            <a:pPr indent="0" marL="0">
              <a:buNone/>
            </a:pPr>
            <a:r>
              <a:rPr lang="en-US" sz="1150" dirty="0">
                <a:solidFill>
                  <a:srgbClr val="20263B"/>
                </a:solidFill>
                <a:latin typeface="Calibri" pitchFamily="34" charset="0"/>
                <a:ea typeface="Calibri" pitchFamily="34" charset="-122"/>
                <a:cs typeface="Calibri" pitchFamily="34" charset="-120"/>
              </a:rPr>
              <a:t>•  Generate precise RCAs using system data and IR pack rules</a:t>
            </a:r>
            <a:endParaRPr lang="en-US" sz="1150" dirty="0"/>
          </a:p>
        </p:txBody>
      </p:sp>
      <p:sp>
        <p:nvSpPr>
          <p:cNvPr id="21" name="Text 19"/>
          <p:cNvSpPr/>
          <p:nvPr/>
        </p:nvSpPr>
        <p:spPr>
          <a:xfrm>
            <a:off x="6720840" y="5349240"/>
            <a:ext cx="4572000" cy="457200"/>
          </a:xfrm>
          <a:prstGeom prst="rect">
            <a:avLst/>
          </a:prstGeom>
          <a:noFill/>
          <a:ln/>
        </p:spPr>
        <p:txBody>
          <a:bodyPr wrap="square" rtlCol="0" anchor="t"/>
          <a:lstStyle/>
          <a:p>
            <a:pPr indent="0" marL="0">
              <a:buNone/>
            </a:pPr>
            <a:r>
              <a:rPr lang="en-US" sz="1150" dirty="0">
                <a:solidFill>
                  <a:srgbClr val="20263B"/>
                </a:solidFill>
                <a:latin typeface="Calibri" pitchFamily="34" charset="0"/>
                <a:ea typeface="Calibri" pitchFamily="34" charset="-122"/>
                <a:cs typeface="Calibri" pitchFamily="34" charset="-120"/>
              </a:rPr>
              <a:t>•  Work reliably in real-time customer support environments</a:t>
            </a:r>
            <a:endParaRPr lang="en-US" sz="1150" dirty="0"/>
          </a:p>
        </p:txBody>
      </p:sp>
      <p:sp>
        <p:nvSpPr>
          <p:cNvPr id="22" name="Text 20"/>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6B7394"/>
                </a:solidFill>
                <a:latin typeface="Calibri" pitchFamily="34" charset="0"/>
                <a:ea typeface="Calibri" pitchFamily="34" charset="-122"/>
                <a:cs typeface="Calibri" pitchFamily="34" charset="-120"/>
              </a:rPr>
              <a:t>Telecom Complaint Analyser</a:t>
            </a:r>
            <a:endParaRPr lang="en-US" sz="900" dirty="0"/>
          </a:p>
        </p:txBody>
      </p:sp>
      <p:sp>
        <p:nvSpPr>
          <p:cNvPr id="23" name="Text 21"/>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6B739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Methodology</a:t>
            </a:r>
            <a:endParaRPr lang="en-US" sz="3200" dirty="0"/>
          </a:p>
        </p:txBody>
      </p:sp>
      <p:sp>
        <p:nvSpPr>
          <p:cNvPr id="3" name="Text 1"/>
          <p:cNvSpPr/>
          <p:nvPr/>
        </p:nvSpPr>
        <p:spPr>
          <a:xfrm>
            <a:off x="548640" y="1005840"/>
            <a:ext cx="11064240" cy="365760"/>
          </a:xfrm>
          <a:prstGeom prst="rect">
            <a:avLst/>
          </a:prstGeom>
          <a:noFill/>
          <a:ln/>
        </p:spPr>
        <p:txBody>
          <a:bodyPr wrap="square" rtlCol="0" anchor="ctr"/>
          <a:lstStyle/>
          <a:p>
            <a:pPr algn="l" indent="0" marL="0">
              <a:buNone/>
            </a:pPr>
            <a:r>
              <a:rPr lang="en-US" sz="1400" i="1" dirty="0">
                <a:solidFill>
                  <a:srgbClr val="6B7394"/>
                </a:solidFill>
                <a:latin typeface="Calibri" pitchFamily="34" charset="0"/>
                <a:ea typeface="Calibri" pitchFamily="34" charset="-122"/>
                <a:cs typeface="Calibri" pitchFamily="34" charset="-120"/>
              </a:rPr>
              <a:t>System Architecture Overview</a:t>
            </a:r>
            <a:endParaRPr lang="en-US" sz="1400" dirty="0"/>
          </a:p>
        </p:txBody>
      </p:sp>
      <p:sp>
        <p:nvSpPr>
          <p:cNvPr id="4" name="Shape 2"/>
          <p:cNvSpPr/>
          <p:nvPr/>
        </p:nvSpPr>
        <p:spPr>
          <a:xfrm>
            <a:off x="548640" y="2103120"/>
            <a:ext cx="2029968" cy="2377440"/>
          </a:xfrm>
          <a:prstGeom prst="roundRect">
            <a:avLst>
              <a:gd name="adj" fmla="val 3604"/>
            </a:avLst>
          </a:prstGeom>
          <a:solidFill>
            <a:srgbClr val="1E2761"/>
          </a:solidFill>
          <a:ln/>
        </p:spPr>
      </p:sp>
      <p:sp>
        <p:nvSpPr>
          <p:cNvPr id="5" name="Text 3"/>
          <p:cNvSpPr/>
          <p:nvPr/>
        </p:nvSpPr>
        <p:spPr>
          <a:xfrm>
            <a:off x="658368" y="2194560"/>
            <a:ext cx="548640" cy="365760"/>
          </a:xfrm>
          <a:prstGeom prst="rect">
            <a:avLst/>
          </a:prstGeom>
          <a:noFill/>
          <a:ln/>
        </p:spPr>
        <p:txBody>
          <a:bodyPr wrap="square" rtlCol="0" anchor="ctr"/>
          <a:lstStyle/>
          <a:p>
            <a:pPr indent="0" marL="0">
              <a:buNone/>
            </a:pPr>
            <a:r>
              <a:rPr lang="en-US" sz="1600" b="1" dirty="0">
                <a:solidFill>
                  <a:srgbClr val="CADCFC"/>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685800" y="2606040"/>
            <a:ext cx="1755648" cy="50292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Input Layer</a:t>
            </a:r>
            <a:endParaRPr lang="en-US" sz="1250" dirty="0"/>
          </a:p>
        </p:txBody>
      </p:sp>
      <p:sp>
        <p:nvSpPr>
          <p:cNvPr id="7" name="Text 5"/>
          <p:cNvSpPr/>
          <p:nvPr/>
        </p:nvSpPr>
        <p:spPr>
          <a:xfrm>
            <a:off x="685800" y="3108960"/>
            <a:ext cx="1755648" cy="1234440"/>
          </a:xfrm>
          <a:prstGeom prst="rect">
            <a:avLst/>
          </a:prstGeom>
          <a:noFill/>
          <a:ln/>
        </p:spPr>
        <p:txBody>
          <a:bodyPr wrap="square" rtlCol="0" anchor="t"/>
          <a:lstStyle/>
          <a:p>
            <a:pPr indent="0" marL="0">
              <a:lnSpc>
                <a:spcPct val="110000"/>
              </a:lnSpc>
              <a:buNone/>
            </a:pPr>
            <a:r>
              <a:rPr lang="en-US" sz="950" dirty="0">
                <a:solidFill>
                  <a:srgbClr val="FFFFFF"/>
                </a:solidFill>
                <a:latin typeface="Calibri" pitchFamily="34" charset="0"/>
                <a:ea typeface="Calibri" pitchFamily="34" charset="-122"/>
                <a:cs typeface="Calibri" pitchFamily="34" charset="-120"/>
              </a:rPr>
              <a:t>Customer complaint entered through Gradio UI</a:t>
            </a:r>
            <a:endParaRPr lang="en-US" sz="950" dirty="0"/>
          </a:p>
        </p:txBody>
      </p:sp>
      <p:sp>
        <p:nvSpPr>
          <p:cNvPr id="8" name="Shape 6"/>
          <p:cNvSpPr/>
          <p:nvPr/>
        </p:nvSpPr>
        <p:spPr>
          <a:xfrm>
            <a:off x="2551176" y="3136392"/>
            <a:ext cx="310896" cy="310896"/>
          </a:xfrm>
          <a:prstGeom prst="ellipse">
            <a:avLst/>
          </a:prstGeom>
          <a:solidFill>
            <a:srgbClr val="FFFFFF"/>
          </a:solidFill>
          <a:ln w="12700">
            <a:solidFill>
              <a:srgbClr val="D8DCEA"/>
            </a:solidFill>
            <a:prstDash val="solid"/>
          </a:ln>
        </p:spPr>
      </p:sp>
      <p:sp>
        <p:nvSpPr>
          <p:cNvPr id="9" name="Text 7"/>
          <p:cNvSpPr/>
          <p:nvPr/>
        </p:nvSpPr>
        <p:spPr>
          <a:xfrm>
            <a:off x="2551176" y="3118104"/>
            <a:ext cx="310896" cy="310896"/>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2834640" y="2103120"/>
            <a:ext cx="2029968" cy="2377440"/>
          </a:xfrm>
          <a:prstGeom prst="roundRect">
            <a:avLst>
              <a:gd name="adj" fmla="val 3604"/>
            </a:avLst>
          </a:prstGeom>
          <a:solidFill>
            <a:srgbClr val="3AA6A6"/>
          </a:solidFill>
          <a:ln/>
        </p:spPr>
      </p:sp>
      <p:sp>
        <p:nvSpPr>
          <p:cNvPr id="11" name="Text 9"/>
          <p:cNvSpPr/>
          <p:nvPr/>
        </p:nvSpPr>
        <p:spPr>
          <a:xfrm>
            <a:off x="2944368" y="2194560"/>
            <a:ext cx="548640" cy="365760"/>
          </a:xfrm>
          <a:prstGeom prst="rect">
            <a:avLst/>
          </a:prstGeom>
          <a:noFill/>
          <a:ln/>
        </p:spPr>
        <p:txBody>
          <a:bodyPr wrap="square" rtlCol="0" anchor="ctr"/>
          <a:lstStyle/>
          <a:p>
            <a:pPr indent="0" marL="0">
              <a:buNone/>
            </a:pPr>
            <a:r>
              <a:rPr lang="en-US" sz="1600" b="1" dirty="0">
                <a:solidFill>
                  <a:srgbClr val="CADCFC"/>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2971800" y="2606040"/>
            <a:ext cx="1755648" cy="50292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Rule-Based Extraction</a:t>
            </a:r>
            <a:endParaRPr lang="en-US" sz="1250" dirty="0"/>
          </a:p>
        </p:txBody>
      </p:sp>
      <p:sp>
        <p:nvSpPr>
          <p:cNvPr id="13" name="Text 11"/>
          <p:cNvSpPr/>
          <p:nvPr/>
        </p:nvSpPr>
        <p:spPr>
          <a:xfrm>
            <a:off x="2971800" y="3108960"/>
            <a:ext cx="1755648" cy="1234440"/>
          </a:xfrm>
          <a:prstGeom prst="rect">
            <a:avLst/>
          </a:prstGeom>
          <a:noFill/>
          <a:ln/>
        </p:spPr>
        <p:txBody>
          <a:bodyPr wrap="square" rtlCol="0" anchor="t"/>
          <a:lstStyle/>
          <a:p>
            <a:pPr indent="0" marL="0">
              <a:lnSpc>
                <a:spcPct val="110000"/>
              </a:lnSpc>
              <a:buNone/>
            </a:pPr>
            <a:r>
              <a:rPr lang="en-US" sz="950" dirty="0">
                <a:solidFill>
                  <a:srgbClr val="FFFFFF"/>
                </a:solidFill>
                <a:latin typeface="Calibri" pitchFamily="34" charset="0"/>
                <a:ea typeface="Calibri" pitchFamily="34" charset="-122"/>
                <a:cs typeface="Calibri" pitchFamily="34" charset="-120"/>
              </a:rPr>
              <a:t>Detects phone numbers, country names, complaint type via Hinglish keyword matching &amp; regex</a:t>
            </a:r>
            <a:endParaRPr lang="en-US" sz="950" dirty="0"/>
          </a:p>
        </p:txBody>
      </p:sp>
      <p:sp>
        <p:nvSpPr>
          <p:cNvPr id="14" name="Shape 12"/>
          <p:cNvSpPr/>
          <p:nvPr/>
        </p:nvSpPr>
        <p:spPr>
          <a:xfrm>
            <a:off x="4837176" y="3136392"/>
            <a:ext cx="310896" cy="310896"/>
          </a:xfrm>
          <a:prstGeom prst="ellipse">
            <a:avLst/>
          </a:prstGeom>
          <a:solidFill>
            <a:srgbClr val="FFFFFF"/>
          </a:solidFill>
          <a:ln w="12700">
            <a:solidFill>
              <a:srgbClr val="D8DCEA"/>
            </a:solidFill>
            <a:prstDash val="solid"/>
          </a:ln>
        </p:spPr>
      </p:sp>
      <p:sp>
        <p:nvSpPr>
          <p:cNvPr id="15" name="Text 13"/>
          <p:cNvSpPr/>
          <p:nvPr/>
        </p:nvSpPr>
        <p:spPr>
          <a:xfrm>
            <a:off x="4837176" y="3118104"/>
            <a:ext cx="310896" cy="310896"/>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5120640" y="2103120"/>
            <a:ext cx="2029968" cy="2377440"/>
          </a:xfrm>
          <a:prstGeom prst="roundRect">
            <a:avLst>
              <a:gd name="adj" fmla="val 3604"/>
            </a:avLst>
          </a:prstGeom>
          <a:solidFill>
            <a:srgbClr val="1E2761"/>
          </a:solidFill>
          <a:ln/>
        </p:spPr>
      </p:sp>
      <p:sp>
        <p:nvSpPr>
          <p:cNvPr id="17" name="Text 15"/>
          <p:cNvSpPr/>
          <p:nvPr/>
        </p:nvSpPr>
        <p:spPr>
          <a:xfrm>
            <a:off x="5230368" y="2194560"/>
            <a:ext cx="548640" cy="365760"/>
          </a:xfrm>
          <a:prstGeom prst="rect">
            <a:avLst/>
          </a:prstGeom>
          <a:noFill/>
          <a:ln/>
        </p:spPr>
        <p:txBody>
          <a:bodyPr wrap="square" rtlCol="0" anchor="ctr"/>
          <a:lstStyle/>
          <a:p>
            <a:pPr indent="0" marL="0">
              <a:buNone/>
            </a:pPr>
            <a:r>
              <a:rPr lang="en-US" sz="1600" b="1" dirty="0">
                <a:solidFill>
                  <a:srgbClr val="CADCFC"/>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5257800" y="2606040"/>
            <a:ext cx="1755648" cy="50292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LLM Fallback Layer</a:t>
            </a:r>
            <a:endParaRPr lang="en-US" sz="1250" dirty="0"/>
          </a:p>
        </p:txBody>
      </p:sp>
      <p:sp>
        <p:nvSpPr>
          <p:cNvPr id="19" name="Text 17"/>
          <p:cNvSpPr/>
          <p:nvPr/>
        </p:nvSpPr>
        <p:spPr>
          <a:xfrm>
            <a:off x="5257800" y="3108960"/>
            <a:ext cx="1755648" cy="1234440"/>
          </a:xfrm>
          <a:prstGeom prst="rect">
            <a:avLst/>
          </a:prstGeom>
          <a:noFill/>
          <a:ln/>
        </p:spPr>
        <p:txBody>
          <a:bodyPr wrap="square" rtlCol="0" anchor="t"/>
          <a:lstStyle/>
          <a:p>
            <a:pPr indent="0" marL="0">
              <a:lnSpc>
                <a:spcPct val="110000"/>
              </a:lnSpc>
              <a:buNone/>
            </a:pPr>
            <a:r>
              <a:rPr lang="en-US" sz="950" dirty="0">
                <a:solidFill>
                  <a:srgbClr val="FFFFFF"/>
                </a:solidFill>
                <a:latin typeface="Calibri" pitchFamily="34" charset="0"/>
                <a:ea typeface="Calibri" pitchFamily="34" charset="-122"/>
                <a:cs typeface="Calibri" pitchFamily="34" charset="-120"/>
              </a:rPr>
              <a:t>Curated prompt on Mistral 7B extracts fields only when rule-based extraction is uncertain</a:t>
            </a:r>
            <a:endParaRPr lang="en-US" sz="950" dirty="0"/>
          </a:p>
        </p:txBody>
      </p:sp>
      <p:sp>
        <p:nvSpPr>
          <p:cNvPr id="20" name="Shape 18"/>
          <p:cNvSpPr/>
          <p:nvPr/>
        </p:nvSpPr>
        <p:spPr>
          <a:xfrm>
            <a:off x="7123176" y="3136392"/>
            <a:ext cx="310896" cy="310896"/>
          </a:xfrm>
          <a:prstGeom prst="ellipse">
            <a:avLst/>
          </a:prstGeom>
          <a:solidFill>
            <a:srgbClr val="FFFFFF"/>
          </a:solidFill>
          <a:ln w="12700">
            <a:solidFill>
              <a:srgbClr val="D8DCEA"/>
            </a:solidFill>
            <a:prstDash val="solid"/>
          </a:ln>
        </p:spPr>
      </p:sp>
      <p:sp>
        <p:nvSpPr>
          <p:cNvPr id="21" name="Text 19"/>
          <p:cNvSpPr/>
          <p:nvPr/>
        </p:nvSpPr>
        <p:spPr>
          <a:xfrm>
            <a:off x="7123176" y="3118104"/>
            <a:ext cx="310896" cy="310896"/>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7406640" y="2103120"/>
            <a:ext cx="2029968" cy="2377440"/>
          </a:xfrm>
          <a:prstGeom prst="roundRect">
            <a:avLst>
              <a:gd name="adj" fmla="val 3604"/>
            </a:avLst>
          </a:prstGeom>
          <a:solidFill>
            <a:srgbClr val="3AA6A6"/>
          </a:solidFill>
          <a:ln/>
        </p:spPr>
      </p:sp>
      <p:sp>
        <p:nvSpPr>
          <p:cNvPr id="23" name="Text 21"/>
          <p:cNvSpPr/>
          <p:nvPr/>
        </p:nvSpPr>
        <p:spPr>
          <a:xfrm>
            <a:off x="7516368" y="2194560"/>
            <a:ext cx="548640" cy="365760"/>
          </a:xfrm>
          <a:prstGeom prst="rect">
            <a:avLst/>
          </a:prstGeom>
          <a:noFill/>
          <a:ln/>
        </p:spPr>
        <p:txBody>
          <a:bodyPr wrap="square" rtlCol="0" anchor="ctr"/>
          <a:lstStyle/>
          <a:p>
            <a:pPr indent="0" marL="0">
              <a:buNone/>
            </a:pPr>
            <a:r>
              <a:rPr lang="en-US" sz="1600" b="1" dirty="0">
                <a:solidFill>
                  <a:srgbClr val="CADCFC"/>
                </a:solidFill>
                <a:latin typeface="Cambria" pitchFamily="34" charset="0"/>
                <a:ea typeface="Cambria" pitchFamily="34" charset="-122"/>
                <a:cs typeface="Cambria" pitchFamily="34" charset="-120"/>
              </a:rPr>
              <a:t>4</a:t>
            </a:r>
            <a:endParaRPr lang="en-US" sz="1600" dirty="0"/>
          </a:p>
        </p:txBody>
      </p:sp>
      <p:sp>
        <p:nvSpPr>
          <p:cNvPr id="24" name="Text 22"/>
          <p:cNvSpPr/>
          <p:nvPr/>
        </p:nvSpPr>
        <p:spPr>
          <a:xfrm>
            <a:off x="7543800" y="2606040"/>
            <a:ext cx="1755648" cy="50292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RCA Generator</a:t>
            </a:r>
            <a:endParaRPr lang="en-US" sz="1250" dirty="0"/>
          </a:p>
        </p:txBody>
      </p:sp>
      <p:sp>
        <p:nvSpPr>
          <p:cNvPr id="25" name="Text 23"/>
          <p:cNvSpPr/>
          <p:nvPr/>
        </p:nvSpPr>
        <p:spPr>
          <a:xfrm>
            <a:off x="7543800" y="3108960"/>
            <a:ext cx="1755648" cy="1234440"/>
          </a:xfrm>
          <a:prstGeom prst="rect">
            <a:avLst/>
          </a:prstGeom>
          <a:noFill/>
          <a:ln/>
        </p:spPr>
        <p:txBody>
          <a:bodyPr wrap="square" rtlCol="0" anchor="t"/>
          <a:lstStyle/>
          <a:p>
            <a:pPr indent="0" marL="0">
              <a:lnSpc>
                <a:spcPct val="110000"/>
              </a:lnSpc>
              <a:buNone/>
            </a:pPr>
            <a:r>
              <a:rPr lang="en-US" sz="950" dirty="0">
                <a:solidFill>
                  <a:srgbClr val="FFFFFF"/>
                </a:solidFill>
                <a:latin typeface="Calibri" pitchFamily="34" charset="0"/>
                <a:ea typeface="Calibri" pitchFamily="34" charset="-122"/>
                <a:cs typeface="Calibri" pitchFamily="34" charset="-120"/>
              </a:rPr>
              <a:t>Generates a one-line root cause using extracted fields + VLR, IR pack, balance, validity</a:t>
            </a:r>
            <a:endParaRPr lang="en-US" sz="950" dirty="0"/>
          </a:p>
        </p:txBody>
      </p:sp>
      <p:sp>
        <p:nvSpPr>
          <p:cNvPr id="26" name="Shape 24"/>
          <p:cNvSpPr/>
          <p:nvPr/>
        </p:nvSpPr>
        <p:spPr>
          <a:xfrm>
            <a:off x="9409176" y="3136392"/>
            <a:ext cx="310896" cy="310896"/>
          </a:xfrm>
          <a:prstGeom prst="ellipse">
            <a:avLst/>
          </a:prstGeom>
          <a:solidFill>
            <a:srgbClr val="FFFFFF"/>
          </a:solidFill>
          <a:ln w="12700">
            <a:solidFill>
              <a:srgbClr val="D8DCEA"/>
            </a:solidFill>
            <a:prstDash val="solid"/>
          </a:ln>
        </p:spPr>
      </p:sp>
      <p:sp>
        <p:nvSpPr>
          <p:cNvPr id="27" name="Text 25"/>
          <p:cNvSpPr/>
          <p:nvPr/>
        </p:nvSpPr>
        <p:spPr>
          <a:xfrm>
            <a:off x="9409176" y="3118104"/>
            <a:ext cx="310896" cy="310896"/>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9692640" y="2103120"/>
            <a:ext cx="2029968" cy="2377440"/>
          </a:xfrm>
          <a:prstGeom prst="roundRect">
            <a:avLst>
              <a:gd name="adj" fmla="val 3604"/>
            </a:avLst>
          </a:prstGeom>
          <a:solidFill>
            <a:srgbClr val="1E2761"/>
          </a:solidFill>
          <a:ln/>
        </p:spPr>
      </p:sp>
      <p:sp>
        <p:nvSpPr>
          <p:cNvPr id="29" name="Text 27"/>
          <p:cNvSpPr/>
          <p:nvPr/>
        </p:nvSpPr>
        <p:spPr>
          <a:xfrm>
            <a:off x="9802368" y="2194560"/>
            <a:ext cx="548640" cy="365760"/>
          </a:xfrm>
          <a:prstGeom prst="rect">
            <a:avLst/>
          </a:prstGeom>
          <a:noFill/>
          <a:ln/>
        </p:spPr>
        <p:txBody>
          <a:bodyPr wrap="square" rtlCol="0" anchor="ctr"/>
          <a:lstStyle/>
          <a:p>
            <a:pPr indent="0" marL="0">
              <a:buNone/>
            </a:pPr>
            <a:r>
              <a:rPr lang="en-US" sz="1600" b="1" dirty="0">
                <a:solidFill>
                  <a:srgbClr val="CADCFC"/>
                </a:solidFill>
                <a:latin typeface="Cambria" pitchFamily="34" charset="0"/>
                <a:ea typeface="Cambria" pitchFamily="34" charset="-122"/>
                <a:cs typeface="Cambria" pitchFamily="34" charset="-120"/>
              </a:rPr>
              <a:t>5</a:t>
            </a:r>
            <a:endParaRPr lang="en-US" sz="1600" dirty="0"/>
          </a:p>
        </p:txBody>
      </p:sp>
      <p:sp>
        <p:nvSpPr>
          <p:cNvPr id="30" name="Text 28"/>
          <p:cNvSpPr/>
          <p:nvPr/>
        </p:nvSpPr>
        <p:spPr>
          <a:xfrm>
            <a:off x="9829800" y="2606040"/>
            <a:ext cx="1755648" cy="50292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UI Layer</a:t>
            </a:r>
            <a:endParaRPr lang="en-US" sz="1250" dirty="0"/>
          </a:p>
        </p:txBody>
      </p:sp>
      <p:sp>
        <p:nvSpPr>
          <p:cNvPr id="31" name="Text 29"/>
          <p:cNvSpPr/>
          <p:nvPr/>
        </p:nvSpPr>
        <p:spPr>
          <a:xfrm>
            <a:off x="9829800" y="3108960"/>
            <a:ext cx="1755648" cy="1234440"/>
          </a:xfrm>
          <a:prstGeom prst="rect">
            <a:avLst/>
          </a:prstGeom>
          <a:noFill/>
          <a:ln/>
        </p:spPr>
        <p:txBody>
          <a:bodyPr wrap="square" rtlCol="0" anchor="t"/>
          <a:lstStyle/>
          <a:p>
            <a:pPr indent="0" marL="0">
              <a:lnSpc>
                <a:spcPct val="110000"/>
              </a:lnSpc>
              <a:buNone/>
            </a:pPr>
            <a:r>
              <a:rPr lang="en-US" sz="950" dirty="0">
                <a:solidFill>
                  <a:srgbClr val="FFFFFF"/>
                </a:solidFill>
                <a:latin typeface="Calibri" pitchFamily="34" charset="0"/>
                <a:ea typeface="Calibri" pitchFamily="34" charset="-122"/>
                <a:cs typeface="Calibri" pitchFamily="34" charset="-120"/>
              </a:rPr>
              <a:t>Displays results with manual correction options</a:t>
            </a:r>
            <a:endParaRPr lang="en-US" sz="950" dirty="0"/>
          </a:p>
        </p:txBody>
      </p:sp>
      <p:sp>
        <p:nvSpPr>
          <p:cNvPr id="32" name="Text 30"/>
          <p:cNvSpPr/>
          <p:nvPr/>
        </p:nvSpPr>
        <p:spPr>
          <a:xfrm>
            <a:off x="548640" y="4892040"/>
            <a:ext cx="11064240" cy="548640"/>
          </a:xfrm>
          <a:prstGeom prst="rect">
            <a:avLst/>
          </a:prstGeom>
          <a:noFill/>
          <a:ln/>
        </p:spPr>
        <p:txBody>
          <a:bodyPr wrap="square" rtlCol="0" anchor="ctr"/>
          <a:lstStyle/>
          <a:p>
            <a:pPr indent="0" marL="0">
              <a:buNone/>
            </a:pPr>
            <a:r>
              <a:rPr lang="en-US" sz="1250" i="1" dirty="0">
                <a:solidFill>
                  <a:srgbClr val="6B7394"/>
                </a:solidFill>
                <a:latin typeface="Calibri" pitchFamily="34" charset="0"/>
                <a:ea typeface="Calibri" pitchFamily="34" charset="-122"/>
                <a:cs typeface="Calibri" pitchFamily="34" charset="-120"/>
              </a:rPr>
              <a:t>Hybrid design: deterministic rules provide stable, consistent categorization; the LLM layer resolves nuanced or ambiguous Hinglish text.</a:t>
            </a:r>
            <a:endParaRPr lang="en-US" sz="1250" dirty="0"/>
          </a:p>
        </p:txBody>
      </p:sp>
      <p:sp>
        <p:nvSpPr>
          <p:cNvPr id="33" name="Text 31"/>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6B7394"/>
                </a:solidFill>
                <a:latin typeface="Calibri" pitchFamily="34" charset="0"/>
                <a:ea typeface="Calibri" pitchFamily="34" charset="-122"/>
                <a:cs typeface="Calibri" pitchFamily="34" charset="-120"/>
              </a:rPr>
              <a:t>Telecom Complaint Analyser</a:t>
            </a:r>
            <a:endParaRPr lang="en-US" sz="900" dirty="0"/>
          </a:p>
        </p:txBody>
      </p:sp>
      <p:sp>
        <p:nvSpPr>
          <p:cNvPr id="34" name="Text 32"/>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6B739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Hardware Components &amp; Software Tools</a:t>
            </a:r>
            <a:endParaRPr lang="en-US" sz="3200" dirty="0"/>
          </a:p>
        </p:txBody>
      </p:sp>
      <p:sp>
        <p:nvSpPr>
          <p:cNvPr id="3" name="Shape 1"/>
          <p:cNvSpPr/>
          <p:nvPr/>
        </p:nvSpPr>
        <p:spPr>
          <a:xfrm>
            <a:off x="548640" y="1554480"/>
            <a:ext cx="5394960" cy="4572000"/>
          </a:xfrm>
          <a:prstGeom prst="roundRect">
            <a:avLst>
              <a:gd name="adj" fmla="val 2000"/>
            </a:avLst>
          </a:prstGeom>
          <a:solidFill>
            <a:srgbClr val="F4F7FC"/>
          </a:solidFill>
          <a:ln/>
        </p:spPr>
      </p:sp>
      <p:sp>
        <p:nvSpPr>
          <p:cNvPr id="4" name="Text 2"/>
          <p:cNvSpPr/>
          <p:nvPr/>
        </p:nvSpPr>
        <p:spPr>
          <a:xfrm>
            <a:off x="868680" y="1783080"/>
            <a:ext cx="4846320" cy="365760"/>
          </a:xfrm>
          <a:prstGeom prst="rect">
            <a:avLst/>
          </a:prstGeom>
          <a:noFill/>
          <a:ln/>
        </p:spPr>
        <p:txBody>
          <a:bodyPr wrap="square" rtlCol="0" anchor="ctr"/>
          <a:lstStyle/>
          <a:p>
            <a:pPr indent="0" marL="0">
              <a:buNone/>
            </a:pPr>
            <a:r>
              <a:rPr lang="en-US" sz="1500" b="1" spc="100" kern="0" dirty="0">
                <a:solidFill>
                  <a:srgbClr val="1E2761"/>
                </a:solidFill>
                <a:latin typeface="Calibri" pitchFamily="34" charset="0"/>
                <a:ea typeface="Calibri" pitchFamily="34" charset="-122"/>
                <a:cs typeface="Calibri" pitchFamily="34" charset="-120"/>
              </a:rPr>
              <a:t>HARDWARE COMPONENTS</a:t>
            </a:r>
            <a:endParaRPr lang="en-US" sz="1500" dirty="0"/>
          </a:p>
        </p:txBody>
      </p:sp>
      <p:sp>
        <p:nvSpPr>
          <p:cNvPr id="5" name="Text 3"/>
          <p:cNvSpPr/>
          <p:nvPr/>
        </p:nvSpPr>
        <p:spPr>
          <a:xfrm>
            <a:off x="868680" y="2194560"/>
            <a:ext cx="4846320" cy="457200"/>
          </a:xfrm>
          <a:prstGeom prst="rect">
            <a:avLst/>
          </a:prstGeom>
          <a:noFill/>
          <a:ln/>
        </p:spPr>
        <p:txBody>
          <a:bodyPr wrap="square" rtlCol="0" anchor="t"/>
          <a:lstStyle/>
          <a:p>
            <a:pPr indent="0" marL="0">
              <a:buNone/>
            </a:pPr>
            <a:r>
              <a:rPr lang="en-US" sz="1150" i="1" dirty="0">
                <a:solidFill>
                  <a:srgbClr val="6B7394"/>
                </a:solidFill>
                <a:latin typeface="Calibri" pitchFamily="34" charset="0"/>
                <a:ea typeface="Calibri" pitchFamily="34" charset="-122"/>
                <a:cs typeface="Calibri" pitchFamily="34" charset="-120"/>
              </a:rPr>
              <a:t>The project runs entirely in software — hardware requirements are minimal.</a:t>
            </a:r>
            <a:endParaRPr lang="en-US" sz="1150" dirty="0"/>
          </a:p>
        </p:txBody>
      </p:sp>
      <p:sp>
        <p:nvSpPr>
          <p:cNvPr id="6" name="Shape 4"/>
          <p:cNvSpPr/>
          <p:nvPr/>
        </p:nvSpPr>
        <p:spPr>
          <a:xfrm>
            <a:off x="868680" y="2843784"/>
            <a:ext cx="128016" cy="128016"/>
          </a:xfrm>
          <a:prstGeom prst="ellipse">
            <a:avLst/>
          </a:prstGeom>
          <a:solidFill>
            <a:srgbClr val="3AA6A6"/>
          </a:solidFill>
          <a:ln/>
        </p:spPr>
      </p:sp>
      <p:sp>
        <p:nvSpPr>
          <p:cNvPr id="7" name="Text 5"/>
          <p:cNvSpPr/>
          <p:nvPr/>
        </p:nvSpPr>
        <p:spPr>
          <a:xfrm>
            <a:off x="1143000" y="2697480"/>
            <a:ext cx="4572000" cy="502920"/>
          </a:xfrm>
          <a:prstGeom prst="rect">
            <a:avLst/>
          </a:prstGeom>
          <a:noFill/>
          <a:ln/>
        </p:spPr>
        <p:txBody>
          <a:bodyPr wrap="square" rtlCol="0" anchor="t"/>
          <a:lstStyle/>
          <a:p>
            <a:pPr indent="0" marL="0">
              <a:buNone/>
            </a:pPr>
            <a:r>
              <a:rPr lang="en-US" sz="1250" dirty="0">
                <a:solidFill>
                  <a:srgbClr val="20263B"/>
                </a:solidFill>
                <a:latin typeface="Calibri" pitchFamily="34" charset="0"/>
                <a:ea typeface="Calibri" pitchFamily="34" charset="-122"/>
                <a:cs typeface="Calibri" pitchFamily="34" charset="-120"/>
              </a:rPr>
              <a:t>Laptop / PC with 8 GB RAM</a:t>
            </a:r>
            <a:endParaRPr lang="en-US" sz="1250" dirty="0"/>
          </a:p>
        </p:txBody>
      </p:sp>
      <p:sp>
        <p:nvSpPr>
          <p:cNvPr id="8" name="Shape 6"/>
          <p:cNvSpPr/>
          <p:nvPr/>
        </p:nvSpPr>
        <p:spPr>
          <a:xfrm>
            <a:off x="868680" y="3438144"/>
            <a:ext cx="128016" cy="128016"/>
          </a:xfrm>
          <a:prstGeom prst="ellipse">
            <a:avLst/>
          </a:prstGeom>
          <a:solidFill>
            <a:srgbClr val="3AA6A6"/>
          </a:solidFill>
          <a:ln/>
        </p:spPr>
      </p:sp>
      <p:sp>
        <p:nvSpPr>
          <p:cNvPr id="9" name="Text 7"/>
          <p:cNvSpPr/>
          <p:nvPr/>
        </p:nvSpPr>
        <p:spPr>
          <a:xfrm>
            <a:off x="1143000" y="3291840"/>
            <a:ext cx="4572000" cy="502920"/>
          </a:xfrm>
          <a:prstGeom prst="rect">
            <a:avLst/>
          </a:prstGeom>
          <a:noFill/>
          <a:ln/>
        </p:spPr>
        <p:txBody>
          <a:bodyPr wrap="square" rtlCol="0" anchor="t"/>
          <a:lstStyle/>
          <a:p>
            <a:pPr indent="0" marL="0">
              <a:buNone/>
            </a:pPr>
            <a:r>
              <a:rPr lang="en-US" sz="1250" dirty="0">
                <a:solidFill>
                  <a:srgbClr val="20263B"/>
                </a:solidFill>
                <a:latin typeface="Calibri" pitchFamily="34" charset="0"/>
                <a:ea typeface="Calibri" pitchFamily="34" charset="-122"/>
                <a:cs typeface="Calibri" pitchFamily="34" charset="-120"/>
              </a:rPr>
              <a:t>Multi-core CPU</a:t>
            </a:r>
            <a:endParaRPr lang="en-US" sz="1250" dirty="0"/>
          </a:p>
        </p:txBody>
      </p:sp>
      <p:sp>
        <p:nvSpPr>
          <p:cNvPr id="10" name="Shape 8"/>
          <p:cNvSpPr/>
          <p:nvPr/>
        </p:nvSpPr>
        <p:spPr>
          <a:xfrm>
            <a:off x="868680" y="4032504"/>
            <a:ext cx="128016" cy="128016"/>
          </a:xfrm>
          <a:prstGeom prst="ellipse">
            <a:avLst/>
          </a:prstGeom>
          <a:solidFill>
            <a:srgbClr val="3AA6A6"/>
          </a:solidFill>
          <a:ln/>
        </p:spPr>
      </p:sp>
      <p:sp>
        <p:nvSpPr>
          <p:cNvPr id="11" name="Text 9"/>
          <p:cNvSpPr/>
          <p:nvPr/>
        </p:nvSpPr>
        <p:spPr>
          <a:xfrm>
            <a:off x="1143000" y="3886200"/>
            <a:ext cx="4572000" cy="502920"/>
          </a:xfrm>
          <a:prstGeom prst="rect">
            <a:avLst/>
          </a:prstGeom>
          <a:noFill/>
          <a:ln/>
        </p:spPr>
        <p:txBody>
          <a:bodyPr wrap="square" rtlCol="0" anchor="t"/>
          <a:lstStyle/>
          <a:p>
            <a:pPr indent="0" marL="0">
              <a:buNone/>
            </a:pPr>
            <a:r>
              <a:rPr lang="en-US" sz="1250" dirty="0">
                <a:solidFill>
                  <a:srgbClr val="20263B"/>
                </a:solidFill>
                <a:latin typeface="Calibri" pitchFamily="34" charset="0"/>
                <a:ea typeface="Calibri" pitchFamily="34" charset="-122"/>
                <a:cs typeface="Calibri" pitchFamily="34" charset="-120"/>
              </a:rPr>
              <a:t>Optional GPU for faster LLM execution</a:t>
            </a:r>
            <a:endParaRPr lang="en-US" sz="1250" dirty="0"/>
          </a:p>
        </p:txBody>
      </p:sp>
      <p:sp>
        <p:nvSpPr>
          <p:cNvPr id="12" name="Shape 10"/>
          <p:cNvSpPr/>
          <p:nvPr/>
        </p:nvSpPr>
        <p:spPr>
          <a:xfrm>
            <a:off x="868680" y="4626864"/>
            <a:ext cx="128016" cy="128016"/>
          </a:xfrm>
          <a:prstGeom prst="ellipse">
            <a:avLst/>
          </a:prstGeom>
          <a:solidFill>
            <a:srgbClr val="3AA6A6"/>
          </a:solidFill>
          <a:ln/>
        </p:spPr>
      </p:sp>
      <p:sp>
        <p:nvSpPr>
          <p:cNvPr id="13" name="Text 11"/>
          <p:cNvSpPr/>
          <p:nvPr/>
        </p:nvSpPr>
        <p:spPr>
          <a:xfrm>
            <a:off x="1143000" y="4480560"/>
            <a:ext cx="4572000" cy="502920"/>
          </a:xfrm>
          <a:prstGeom prst="rect">
            <a:avLst/>
          </a:prstGeom>
          <a:noFill/>
          <a:ln/>
        </p:spPr>
        <p:txBody>
          <a:bodyPr wrap="square" rtlCol="0" anchor="t"/>
          <a:lstStyle/>
          <a:p>
            <a:pPr indent="0" marL="0">
              <a:buNone/>
            </a:pPr>
            <a:r>
              <a:rPr lang="en-US" sz="1250" dirty="0">
                <a:solidFill>
                  <a:srgbClr val="20263B"/>
                </a:solidFill>
                <a:latin typeface="Calibri" pitchFamily="34" charset="0"/>
                <a:ea typeface="Calibri" pitchFamily="34" charset="-122"/>
                <a:cs typeface="Calibri" pitchFamily="34" charset="-120"/>
              </a:rPr>
              <a:t>Local machine capable of running Ollama models (Mac/Linux recommended)</a:t>
            </a:r>
            <a:endParaRPr lang="en-US" sz="1250" dirty="0"/>
          </a:p>
        </p:txBody>
      </p:sp>
      <p:sp>
        <p:nvSpPr>
          <p:cNvPr id="14" name="Shape 12"/>
          <p:cNvSpPr/>
          <p:nvPr/>
        </p:nvSpPr>
        <p:spPr>
          <a:xfrm>
            <a:off x="6217920" y="1554480"/>
            <a:ext cx="5394960" cy="4572000"/>
          </a:xfrm>
          <a:prstGeom prst="roundRect">
            <a:avLst>
              <a:gd name="adj" fmla="val 2000"/>
            </a:avLst>
          </a:prstGeom>
          <a:solidFill>
            <a:srgbClr val="1E2761"/>
          </a:solidFill>
          <a:ln/>
        </p:spPr>
      </p:sp>
      <p:sp>
        <p:nvSpPr>
          <p:cNvPr id="15" name="Text 13"/>
          <p:cNvSpPr/>
          <p:nvPr/>
        </p:nvSpPr>
        <p:spPr>
          <a:xfrm>
            <a:off x="6537960" y="1783080"/>
            <a:ext cx="4846320" cy="365760"/>
          </a:xfrm>
          <a:prstGeom prst="rect">
            <a:avLst/>
          </a:prstGeom>
          <a:noFill/>
          <a:ln/>
        </p:spPr>
        <p:txBody>
          <a:bodyPr wrap="square" rtlCol="0" anchor="ctr"/>
          <a:lstStyle/>
          <a:p>
            <a:pPr indent="0" marL="0">
              <a:buNone/>
            </a:pPr>
            <a:r>
              <a:rPr lang="en-US" sz="1500" b="1" spc="100" kern="0" dirty="0">
                <a:solidFill>
                  <a:srgbClr val="CADCFC"/>
                </a:solidFill>
                <a:latin typeface="Calibri" pitchFamily="34" charset="0"/>
                <a:ea typeface="Calibri" pitchFamily="34" charset="-122"/>
                <a:cs typeface="Calibri" pitchFamily="34" charset="-120"/>
              </a:rPr>
              <a:t>SOFTWARE TOOLS</a:t>
            </a:r>
            <a:endParaRPr lang="en-US" sz="1500" dirty="0"/>
          </a:p>
        </p:txBody>
      </p:sp>
      <p:sp>
        <p:nvSpPr>
          <p:cNvPr id="16" name="Text 14"/>
          <p:cNvSpPr/>
          <p:nvPr/>
        </p:nvSpPr>
        <p:spPr>
          <a:xfrm>
            <a:off x="6537960" y="2286000"/>
            <a:ext cx="237744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Python 3.10+</a:t>
            </a:r>
            <a:endParaRPr lang="en-US" sz="1250" dirty="0"/>
          </a:p>
        </p:txBody>
      </p:sp>
      <p:sp>
        <p:nvSpPr>
          <p:cNvPr id="17" name="Text 15"/>
          <p:cNvSpPr/>
          <p:nvPr/>
        </p:nvSpPr>
        <p:spPr>
          <a:xfrm>
            <a:off x="8869680" y="2286000"/>
            <a:ext cx="2606040" cy="365760"/>
          </a:xfrm>
          <a:prstGeom prst="rect">
            <a:avLst/>
          </a:prstGeom>
          <a:noFill/>
          <a:ln/>
        </p:spPr>
        <p:txBody>
          <a:bodyPr wrap="square" rtlCol="0" anchor="ctr"/>
          <a:lstStyle/>
          <a:p>
            <a:pPr algn="r" indent="0" marL="0">
              <a:buNone/>
            </a:pPr>
            <a:r>
              <a:rPr lang="en-US" sz="1050" dirty="0">
                <a:solidFill>
                  <a:srgbClr val="CADCFC"/>
                </a:solidFill>
                <a:latin typeface="Calibri" pitchFamily="34" charset="0"/>
                <a:ea typeface="Calibri" pitchFamily="34" charset="-122"/>
                <a:cs typeface="Calibri" pitchFamily="34" charset="-120"/>
              </a:rPr>
              <a:t>Core language</a:t>
            </a:r>
            <a:endParaRPr lang="en-US" sz="1050" dirty="0"/>
          </a:p>
        </p:txBody>
      </p:sp>
      <p:sp>
        <p:nvSpPr>
          <p:cNvPr id="18" name="Text 16"/>
          <p:cNvSpPr/>
          <p:nvPr/>
        </p:nvSpPr>
        <p:spPr>
          <a:xfrm>
            <a:off x="6537960" y="2743200"/>
            <a:ext cx="237744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Gradio</a:t>
            </a:r>
            <a:endParaRPr lang="en-US" sz="1250" dirty="0"/>
          </a:p>
        </p:txBody>
      </p:sp>
      <p:sp>
        <p:nvSpPr>
          <p:cNvPr id="19" name="Text 17"/>
          <p:cNvSpPr/>
          <p:nvPr/>
        </p:nvSpPr>
        <p:spPr>
          <a:xfrm>
            <a:off x="8869680" y="2743200"/>
            <a:ext cx="2606040" cy="365760"/>
          </a:xfrm>
          <a:prstGeom prst="rect">
            <a:avLst/>
          </a:prstGeom>
          <a:noFill/>
          <a:ln/>
        </p:spPr>
        <p:txBody>
          <a:bodyPr wrap="square" rtlCol="0" anchor="ctr"/>
          <a:lstStyle/>
          <a:p>
            <a:pPr algn="r" indent="0" marL="0">
              <a:buNone/>
            </a:pPr>
            <a:r>
              <a:rPr lang="en-US" sz="1050" dirty="0">
                <a:solidFill>
                  <a:srgbClr val="CADCFC"/>
                </a:solidFill>
                <a:latin typeface="Calibri" pitchFamily="34" charset="0"/>
                <a:ea typeface="Calibri" pitchFamily="34" charset="-122"/>
                <a:cs typeface="Calibri" pitchFamily="34" charset="-120"/>
              </a:rPr>
              <a:t>UI development</a:t>
            </a:r>
            <a:endParaRPr lang="en-US" sz="1050" dirty="0"/>
          </a:p>
        </p:txBody>
      </p:sp>
      <p:sp>
        <p:nvSpPr>
          <p:cNvPr id="20" name="Text 18"/>
          <p:cNvSpPr/>
          <p:nvPr/>
        </p:nvSpPr>
        <p:spPr>
          <a:xfrm>
            <a:off x="6537960" y="3200400"/>
            <a:ext cx="237744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Ollama</a:t>
            </a:r>
            <a:endParaRPr lang="en-US" sz="1250" dirty="0"/>
          </a:p>
        </p:txBody>
      </p:sp>
      <p:sp>
        <p:nvSpPr>
          <p:cNvPr id="21" name="Text 19"/>
          <p:cNvSpPr/>
          <p:nvPr/>
        </p:nvSpPr>
        <p:spPr>
          <a:xfrm>
            <a:off x="8869680" y="3200400"/>
            <a:ext cx="2606040" cy="365760"/>
          </a:xfrm>
          <a:prstGeom prst="rect">
            <a:avLst/>
          </a:prstGeom>
          <a:noFill/>
          <a:ln/>
        </p:spPr>
        <p:txBody>
          <a:bodyPr wrap="square" rtlCol="0" anchor="ctr"/>
          <a:lstStyle/>
          <a:p>
            <a:pPr algn="r" indent="0" marL="0">
              <a:buNone/>
            </a:pPr>
            <a:r>
              <a:rPr lang="en-US" sz="1050" dirty="0">
                <a:solidFill>
                  <a:srgbClr val="CADCFC"/>
                </a:solidFill>
                <a:latin typeface="Calibri" pitchFamily="34" charset="0"/>
                <a:ea typeface="Calibri" pitchFamily="34" charset="-122"/>
                <a:cs typeface="Calibri" pitchFamily="34" charset="-120"/>
              </a:rPr>
              <a:t>Running Mistral 7B LLM locally</a:t>
            </a:r>
            <a:endParaRPr lang="en-US" sz="1050" dirty="0"/>
          </a:p>
        </p:txBody>
      </p:sp>
      <p:sp>
        <p:nvSpPr>
          <p:cNvPr id="22" name="Text 20"/>
          <p:cNvSpPr/>
          <p:nvPr/>
        </p:nvSpPr>
        <p:spPr>
          <a:xfrm>
            <a:off x="6537960" y="3657600"/>
            <a:ext cx="237744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Regex (re)</a:t>
            </a:r>
            <a:endParaRPr lang="en-US" sz="1250" dirty="0"/>
          </a:p>
        </p:txBody>
      </p:sp>
      <p:sp>
        <p:nvSpPr>
          <p:cNvPr id="23" name="Text 21"/>
          <p:cNvSpPr/>
          <p:nvPr/>
        </p:nvSpPr>
        <p:spPr>
          <a:xfrm>
            <a:off x="8869680" y="3657600"/>
            <a:ext cx="2606040" cy="365760"/>
          </a:xfrm>
          <a:prstGeom prst="rect">
            <a:avLst/>
          </a:prstGeom>
          <a:noFill/>
          <a:ln/>
        </p:spPr>
        <p:txBody>
          <a:bodyPr wrap="square" rtlCol="0" anchor="ctr"/>
          <a:lstStyle/>
          <a:p>
            <a:pPr algn="r" indent="0" marL="0">
              <a:buNone/>
            </a:pPr>
            <a:r>
              <a:rPr lang="en-US" sz="1050" dirty="0">
                <a:solidFill>
                  <a:srgbClr val="CADCFC"/>
                </a:solidFill>
                <a:latin typeface="Calibri" pitchFamily="34" charset="0"/>
                <a:ea typeface="Calibri" pitchFamily="34" charset="-122"/>
                <a:cs typeface="Calibri" pitchFamily="34" charset="-120"/>
              </a:rPr>
              <a:t>Rule-based text extraction</a:t>
            </a:r>
            <a:endParaRPr lang="en-US" sz="1050" dirty="0"/>
          </a:p>
        </p:txBody>
      </p:sp>
      <p:sp>
        <p:nvSpPr>
          <p:cNvPr id="24" name="Text 22"/>
          <p:cNvSpPr/>
          <p:nvPr/>
        </p:nvSpPr>
        <p:spPr>
          <a:xfrm>
            <a:off x="6537960" y="4114800"/>
            <a:ext cx="237744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Pandas</a:t>
            </a:r>
            <a:endParaRPr lang="en-US" sz="1250" dirty="0"/>
          </a:p>
        </p:txBody>
      </p:sp>
      <p:sp>
        <p:nvSpPr>
          <p:cNvPr id="25" name="Text 23"/>
          <p:cNvSpPr/>
          <p:nvPr/>
        </p:nvSpPr>
        <p:spPr>
          <a:xfrm>
            <a:off x="8869680" y="4114800"/>
            <a:ext cx="2606040" cy="365760"/>
          </a:xfrm>
          <a:prstGeom prst="rect">
            <a:avLst/>
          </a:prstGeom>
          <a:noFill/>
          <a:ln/>
        </p:spPr>
        <p:txBody>
          <a:bodyPr wrap="square" rtlCol="0" anchor="ctr"/>
          <a:lstStyle/>
          <a:p>
            <a:pPr algn="r" indent="0" marL="0">
              <a:buNone/>
            </a:pPr>
            <a:r>
              <a:rPr lang="en-US" sz="1050" dirty="0">
                <a:solidFill>
                  <a:srgbClr val="CADCFC"/>
                </a:solidFill>
                <a:latin typeface="Calibri" pitchFamily="34" charset="0"/>
                <a:ea typeface="Calibri" pitchFamily="34" charset="-122"/>
                <a:cs typeface="Calibri" pitchFamily="34" charset="-120"/>
              </a:rPr>
              <a:t>Data formatting &amp; handling</a:t>
            </a:r>
            <a:endParaRPr lang="en-US" sz="1050" dirty="0"/>
          </a:p>
        </p:txBody>
      </p:sp>
      <p:sp>
        <p:nvSpPr>
          <p:cNvPr id="26" name="Text 24"/>
          <p:cNvSpPr/>
          <p:nvPr/>
        </p:nvSpPr>
        <p:spPr>
          <a:xfrm>
            <a:off x="6537960" y="4572000"/>
            <a:ext cx="237744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Custom NLP logic</a:t>
            </a:r>
            <a:endParaRPr lang="en-US" sz="1250" dirty="0"/>
          </a:p>
        </p:txBody>
      </p:sp>
      <p:sp>
        <p:nvSpPr>
          <p:cNvPr id="27" name="Text 25"/>
          <p:cNvSpPr/>
          <p:nvPr/>
        </p:nvSpPr>
        <p:spPr>
          <a:xfrm>
            <a:off x="8869680" y="4572000"/>
            <a:ext cx="2606040" cy="365760"/>
          </a:xfrm>
          <a:prstGeom prst="rect">
            <a:avLst/>
          </a:prstGeom>
          <a:noFill/>
          <a:ln/>
        </p:spPr>
        <p:txBody>
          <a:bodyPr wrap="square" rtlCol="0" anchor="ctr"/>
          <a:lstStyle/>
          <a:p>
            <a:pPr algn="r" indent="0" marL="0">
              <a:buNone/>
            </a:pPr>
            <a:r>
              <a:rPr lang="en-US" sz="1050" dirty="0">
                <a:solidFill>
                  <a:srgbClr val="CADCFC"/>
                </a:solidFill>
                <a:latin typeface="Calibri" pitchFamily="34" charset="0"/>
                <a:ea typeface="Calibri" pitchFamily="34" charset="-122"/>
                <a:cs typeface="Calibri" pitchFamily="34" charset="-120"/>
              </a:rPr>
              <a:t>Hinglish keyword classification</a:t>
            </a:r>
            <a:endParaRPr lang="en-US" sz="1050" dirty="0"/>
          </a:p>
        </p:txBody>
      </p:sp>
      <p:sp>
        <p:nvSpPr>
          <p:cNvPr id="28" name="Text 26"/>
          <p:cNvSpPr/>
          <p:nvPr/>
        </p:nvSpPr>
        <p:spPr>
          <a:xfrm>
            <a:off x="6537960" y="5029200"/>
            <a:ext cx="237744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Datetime</a:t>
            </a:r>
            <a:endParaRPr lang="en-US" sz="1250" dirty="0"/>
          </a:p>
        </p:txBody>
      </p:sp>
      <p:sp>
        <p:nvSpPr>
          <p:cNvPr id="29" name="Text 27"/>
          <p:cNvSpPr/>
          <p:nvPr/>
        </p:nvSpPr>
        <p:spPr>
          <a:xfrm>
            <a:off x="8869680" y="5029200"/>
            <a:ext cx="2606040" cy="365760"/>
          </a:xfrm>
          <a:prstGeom prst="rect">
            <a:avLst/>
          </a:prstGeom>
          <a:noFill/>
          <a:ln/>
        </p:spPr>
        <p:txBody>
          <a:bodyPr wrap="square" rtlCol="0" anchor="ctr"/>
          <a:lstStyle/>
          <a:p>
            <a:pPr algn="r" indent="0" marL="0">
              <a:buNone/>
            </a:pPr>
            <a:r>
              <a:rPr lang="en-US" sz="1050" dirty="0">
                <a:solidFill>
                  <a:srgbClr val="CADCFC"/>
                </a:solidFill>
                <a:latin typeface="Calibri" pitchFamily="34" charset="0"/>
                <a:ea typeface="Calibri" pitchFamily="34" charset="-122"/>
                <a:cs typeface="Calibri" pitchFamily="34" charset="-120"/>
              </a:rPr>
              <a:t>Automated plan date generation</a:t>
            </a:r>
            <a:endParaRPr lang="en-US" sz="1050" dirty="0"/>
          </a:p>
        </p:txBody>
      </p:sp>
      <p:sp>
        <p:nvSpPr>
          <p:cNvPr id="30" name="Text 28"/>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6B7394"/>
                </a:solidFill>
                <a:latin typeface="Calibri" pitchFamily="34" charset="0"/>
                <a:ea typeface="Calibri" pitchFamily="34" charset="-122"/>
                <a:cs typeface="Calibri" pitchFamily="34" charset="-120"/>
              </a:rPr>
              <a:t>Telecom Complaint Analyser</a:t>
            </a:r>
            <a:endParaRPr lang="en-US" sz="900" dirty="0"/>
          </a:p>
        </p:txBody>
      </p:sp>
      <p:sp>
        <p:nvSpPr>
          <p:cNvPr id="31" name="Text 29"/>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6B739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Implementation</a:t>
            </a:r>
            <a:endParaRPr lang="en-US" sz="3200" dirty="0"/>
          </a:p>
        </p:txBody>
      </p:sp>
      <p:sp>
        <p:nvSpPr>
          <p:cNvPr id="3" name="Text 1"/>
          <p:cNvSpPr/>
          <p:nvPr/>
        </p:nvSpPr>
        <p:spPr>
          <a:xfrm>
            <a:off x="548640" y="1005840"/>
            <a:ext cx="11064240" cy="365760"/>
          </a:xfrm>
          <a:prstGeom prst="rect">
            <a:avLst/>
          </a:prstGeom>
          <a:noFill/>
          <a:ln/>
        </p:spPr>
        <p:txBody>
          <a:bodyPr wrap="square" rtlCol="0" anchor="ctr"/>
          <a:lstStyle/>
          <a:p>
            <a:pPr algn="l" indent="0" marL="0">
              <a:buNone/>
            </a:pPr>
            <a:r>
              <a:rPr lang="en-US" sz="1400" i="1" dirty="0">
                <a:solidFill>
                  <a:srgbClr val="6B7394"/>
                </a:solidFill>
                <a:latin typeface="Calibri" pitchFamily="34" charset="0"/>
                <a:ea typeface="Calibri" pitchFamily="34" charset="-122"/>
                <a:cs typeface="Calibri" pitchFamily="34" charset="-120"/>
              </a:rPr>
              <a:t>Core system modules</a:t>
            </a:r>
            <a:endParaRPr lang="en-US" sz="1400" dirty="0"/>
          </a:p>
        </p:txBody>
      </p:sp>
      <p:sp>
        <p:nvSpPr>
          <p:cNvPr id="4" name="Shape 2"/>
          <p:cNvSpPr/>
          <p:nvPr/>
        </p:nvSpPr>
        <p:spPr>
          <a:xfrm>
            <a:off x="548640" y="1600200"/>
            <a:ext cx="5440680" cy="1371600"/>
          </a:xfrm>
          <a:prstGeom prst="roundRect">
            <a:avLst>
              <a:gd name="adj" fmla="val 5333"/>
            </a:avLst>
          </a:prstGeom>
          <a:solidFill>
            <a:srgbClr val="F4F7FC"/>
          </a:solidFill>
          <a:ln/>
        </p:spPr>
      </p:sp>
      <p:sp>
        <p:nvSpPr>
          <p:cNvPr id="5" name="Shape 3"/>
          <p:cNvSpPr/>
          <p:nvPr/>
        </p:nvSpPr>
        <p:spPr>
          <a:xfrm>
            <a:off x="731520" y="1764792"/>
            <a:ext cx="411480" cy="411480"/>
          </a:xfrm>
          <a:prstGeom prst="roundRect">
            <a:avLst>
              <a:gd name="adj" fmla="val 17778"/>
            </a:avLst>
          </a:prstGeom>
          <a:solidFill>
            <a:srgbClr val="3AA6A6"/>
          </a:solidFill>
          <a:ln/>
        </p:spPr>
      </p:sp>
      <p:sp>
        <p:nvSpPr>
          <p:cNvPr id="6" name="Text 4"/>
          <p:cNvSpPr/>
          <p:nvPr/>
        </p:nvSpPr>
        <p:spPr>
          <a:xfrm>
            <a:off x="731520" y="1764792"/>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280160" y="1737360"/>
            <a:ext cx="452628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Phone Extraction</a:t>
            </a:r>
            <a:endParaRPr lang="en-US" sz="1300" dirty="0"/>
          </a:p>
        </p:txBody>
      </p:sp>
      <p:sp>
        <p:nvSpPr>
          <p:cNvPr id="8" name="Text 6"/>
          <p:cNvSpPr/>
          <p:nvPr/>
        </p:nvSpPr>
        <p:spPr>
          <a:xfrm>
            <a:off x="1280160" y="2103120"/>
            <a:ext cx="4526280" cy="777240"/>
          </a:xfrm>
          <a:prstGeom prst="rect">
            <a:avLst/>
          </a:prstGeom>
          <a:noFill/>
          <a:ln/>
        </p:spPr>
        <p:txBody>
          <a:bodyPr wrap="square" rtlCol="0" anchor="t"/>
          <a:lstStyle/>
          <a:p>
            <a:pPr indent="0" marL="0">
              <a:lnSpc>
                <a:spcPct val="110000"/>
              </a:lnSpc>
              <a:buNone/>
            </a:pPr>
            <a:r>
              <a:rPr lang="en-US" sz="1050" dirty="0">
                <a:solidFill>
                  <a:srgbClr val="20263B"/>
                </a:solidFill>
                <a:latin typeface="Calibri" pitchFamily="34" charset="0"/>
                <a:ea typeface="Calibri" pitchFamily="34" charset="-122"/>
                <a:cs typeface="Calibri" pitchFamily="34" charset="-120"/>
              </a:rPr>
              <a:t>Regex-based extraction of valid Indian mobile numbers (starting 6–9)</a:t>
            </a:r>
            <a:endParaRPr lang="en-US" sz="1050" dirty="0"/>
          </a:p>
        </p:txBody>
      </p:sp>
      <p:sp>
        <p:nvSpPr>
          <p:cNvPr id="9" name="Shape 7"/>
          <p:cNvSpPr/>
          <p:nvPr/>
        </p:nvSpPr>
        <p:spPr>
          <a:xfrm>
            <a:off x="6263640" y="1600200"/>
            <a:ext cx="5440680" cy="1371600"/>
          </a:xfrm>
          <a:prstGeom prst="roundRect">
            <a:avLst>
              <a:gd name="adj" fmla="val 5333"/>
            </a:avLst>
          </a:prstGeom>
          <a:solidFill>
            <a:srgbClr val="F4F7FC"/>
          </a:solidFill>
          <a:ln/>
        </p:spPr>
      </p:sp>
      <p:sp>
        <p:nvSpPr>
          <p:cNvPr id="10" name="Shape 8"/>
          <p:cNvSpPr/>
          <p:nvPr/>
        </p:nvSpPr>
        <p:spPr>
          <a:xfrm>
            <a:off x="6446520" y="1764792"/>
            <a:ext cx="411480" cy="411480"/>
          </a:xfrm>
          <a:prstGeom prst="roundRect">
            <a:avLst>
              <a:gd name="adj" fmla="val 17778"/>
            </a:avLst>
          </a:prstGeom>
          <a:solidFill>
            <a:srgbClr val="3AA6A6"/>
          </a:solidFill>
          <a:ln/>
        </p:spPr>
      </p:sp>
      <p:sp>
        <p:nvSpPr>
          <p:cNvPr id="11" name="Text 9"/>
          <p:cNvSpPr/>
          <p:nvPr/>
        </p:nvSpPr>
        <p:spPr>
          <a:xfrm>
            <a:off x="6446520" y="1764792"/>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6995160" y="1737360"/>
            <a:ext cx="452628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Country Detection</a:t>
            </a:r>
            <a:endParaRPr lang="en-US" sz="1300" dirty="0"/>
          </a:p>
        </p:txBody>
      </p:sp>
      <p:sp>
        <p:nvSpPr>
          <p:cNvPr id="13" name="Text 11"/>
          <p:cNvSpPr/>
          <p:nvPr/>
        </p:nvSpPr>
        <p:spPr>
          <a:xfrm>
            <a:off x="6995160" y="2103120"/>
            <a:ext cx="4526280" cy="777240"/>
          </a:xfrm>
          <a:prstGeom prst="rect">
            <a:avLst/>
          </a:prstGeom>
          <a:noFill/>
          <a:ln/>
        </p:spPr>
        <p:txBody>
          <a:bodyPr wrap="square" rtlCol="0" anchor="t"/>
          <a:lstStyle/>
          <a:p>
            <a:pPr indent="0" marL="0">
              <a:lnSpc>
                <a:spcPct val="110000"/>
              </a:lnSpc>
              <a:buNone/>
            </a:pPr>
            <a:r>
              <a:rPr lang="en-US" sz="1050" dirty="0">
                <a:solidFill>
                  <a:srgbClr val="20263B"/>
                </a:solidFill>
                <a:latin typeface="Calibri" pitchFamily="34" charset="0"/>
                <a:ea typeface="Calibri" pitchFamily="34" charset="-122"/>
                <a:cs typeface="Calibri" pitchFamily="34" charset="-120"/>
              </a:rPr>
              <a:t>Matches Hinglish phrases like “mai dubai me hu”, “usa se hu”, “qatar me hu”</a:t>
            </a:r>
            <a:endParaRPr lang="en-US" sz="1050" dirty="0"/>
          </a:p>
        </p:txBody>
      </p:sp>
      <p:sp>
        <p:nvSpPr>
          <p:cNvPr id="14" name="Shape 12"/>
          <p:cNvSpPr/>
          <p:nvPr/>
        </p:nvSpPr>
        <p:spPr>
          <a:xfrm>
            <a:off x="548640" y="3154680"/>
            <a:ext cx="5440680" cy="1371600"/>
          </a:xfrm>
          <a:prstGeom prst="roundRect">
            <a:avLst>
              <a:gd name="adj" fmla="val 5333"/>
            </a:avLst>
          </a:prstGeom>
          <a:solidFill>
            <a:srgbClr val="F4F7FC"/>
          </a:solidFill>
          <a:ln/>
        </p:spPr>
      </p:sp>
      <p:sp>
        <p:nvSpPr>
          <p:cNvPr id="15" name="Shape 13"/>
          <p:cNvSpPr/>
          <p:nvPr/>
        </p:nvSpPr>
        <p:spPr>
          <a:xfrm>
            <a:off x="731520" y="3319272"/>
            <a:ext cx="411480" cy="411480"/>
          </a:xfrm>
          <a:prstGeom prst="roundRect">
            <a:avLst>
              <a:gd name="adj" fmla="val 17778"/>
            </a:avLst>
          </a:prstGeom>
          <a:solidFill>
            <a:srgbClr val="3AA6A6"/>
          </a:solidFill>
          <a:ln/>
        </p:spPr>
      </p:sp>
      <p:sp>
        <p:nvSpPr>
          <p:cNvPr id="16" name="Text 14"/>
          <p:cNvSpPr/>
          <p:nvPr/>
        </p:nvSpPr>
        <p:spPr>
          <a:xfrm>
            <a:off x="731520" y="3319272"/>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280160" y="3291840"/>
            <a:ext cx="452628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Complaint Type Detection</a:t>
            </a:r>
            <a:endParaRPr lang="en-US" sz="1300" dirty="0"/>
          </a:p>
        </p:txBody>
      </p:sp>
      <p:sp>
        <p:nvSpPr>
          <p:cNvPr id="18" name="Text 16"/>
          <p:cNvSpPr/>
          <p:nvPr/>
        </p:nvSpPr>
        <p:spPr>
          <a:xfrm>
            <a:off x="1280160" y="3657600"/>
            <a:ext cx="4526280" cy="777240"/>
          </a:xfrm>
          <a:prstGeom prst="rect">
            <a:avLst/>
          </a:prstGeom>
          <a:noFill/>
          <a:ln/>
        </p:spPr>
        <p:txBody>
          <a:bodyPr wrap="square" rtlCol="0" anchor="t"/>
          <a:lstStyle/>
          <a:p>
            <a:pPr indent="0" marL="0">
              <a:lnSpc>
                <a:spcPct val="110000"/>
              </a:lnSpc>
              <a:buNone/>
            </a:pPr>
            <a:r>
              <a:rPr lang="en-US" sz="1050" dirty="0">
                <a:solidFill>
                  <a:srgbClr val="20263B"/>
                </a:solidFill>
                <a:latin typeface="Calibri" pitchFamily="34" charset="0"/>
                <a:ea typeface="Calibri" pitchFamily="34" charset="-122"/>
                <a:cs typeface="Calibri" pitchFamily="34" charset="-120"/>
              </a:rPr>
              <a:t>Identifies Incoming/Outgoing Call, Data, Latch-On, SMS, Tariff/Balance issues</a:t>
            </a:r>
            <a:endParaRPr lang="en-US" sz="1050" dirty="0"/>
          </a:p>
        </p:txBody>
      </p:sp>
      <p:sp>
        <p:nvSpPr>
          <p:cNvPr id="19" name="Shape 17"/>
          <p:cNvSpPr/>
          <p:nvPr/>
        </p:nvSpPr>
        <p:spPr>
          <a:xfrm>
            <a:off x="6263640" y="3154680"/>
            <a:ext cx="5440680" cy="1371600"/>
          </a:xfrm>
          <a:prstGeom prst="roundRect">
            <a:avLst>
              <a:gd name="adj" fmla="val 5333"/>
            </a:avLst>
          </a:prstGeom>
          <a:solidFill>
            <a:srgbClr val="F4F7FC"/>
          </a:solidFill>
          <a:ln/>
        </p:spPr>
      </p:sp>
      <p:sp>
        <p:nvSpPr>
          <p:cNvPr id="20" name="Shape 18"/>
          <p:cNvSpPr/>
          <p:nvPr/>
        </p:nvSpPr>
        <p:spPr>
          <a:xfrm>
            <a:off x="6446520" y="3319272"/>
            <a:ext cx="411480" cy="411480"/>
          </a:xfrm>
          <a:prstGeom prst="roundRect">
            <a:avLst>
              <a:gd name="adj" fmla="val 17778"/>
            </a:avLst>
          </a:prstGeom>
          <a:solidFill>
            <a:srgbClr val="3AA6A6"/>
          </a:solidFill>
          <a:ln/>
        </p:spPr>
      </p:sp>
      <p:sp>
        <p:nvSpPr>
          <p:cNvPr id="21" name="Text 19"/>
          <p:cNvSpPr/>
          <p:nvPr/>
        </p:nvSpPr>
        <p:spPr>
          <a:xfrm>
            <a:off x="6446520" y="3319272"/>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6995160" y="3291840"/>
            <a:ext cx="452628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LLM Fallback</a:t>
            </a:r>
            <a:endParaRPr lang="en-US" sz="1300" dirty="0"/>
          </a:p>
        </p:txBody>
      </p:sp>
      <p:sp>
        <p:nvSpPr>
          <p:cNvPr id="23" name="Text 21"/>
          <p:cNvSpPr/>
          <p:nvPr/>
        </p:nvSpPr>
        <p:spPr>
          <a:xfrm>
            <a:off x="6995160" y="3657600"/>
            <a:ext cx="4526280" cy="777240"/>
          </a:xfrm>
          <a:prstGeom prst="rect">
            <a:avLst/>
          </a:prstGeom>
          <a:noFill/>
          <a:ln/>
        </p:spPr>
        <p:txBody>
          <a:bodyPr wrap="square" rtlCol="0" anchor="t"/>
          <a:lstStyle/>
          <a:p>
            <a:pPr indent="0" marL="0">
              <a:lnSpc>
                <a:spcPct val="110000"/>
              </a:lnSpc>
              <a:buNone/>
            </a:pPr>
            <a:r>
              <a:rPr lang="en-US" sz="1050" dirty="0">
                <a:solidFill>
                  <a:srgbClr val="20263B"/>
                </a:solidFill>
                <a:latin typeface="Calibri" pitchFamily="34" charset="0"/>
                <a:ea typeface="Calibri" pitchFamily="34" charset="-122"/>
                <a:cs typeface="Calibri" pitchFamily="34" charset="-120"/>
              </a:rPr>
              <a:t>Activated only when rule-based detection fails</a:t>
            </a:r>
            <a:endParaRPr lang="en-US" sz="1050" dirty="0"/>
          </a:p>
        </p:txBody>
      </p:sp>
      <p:sp>
        <p:nvSpPr>
          <p:cNvPr id="24" name="Shape 22"/>
          <p:cNvSpPr/>
          <p:nvPr/>
        </p:nvSpPr>
        <p:spPr>
          <a:xfrm>
            <a:off x="548640" y="4709160"/>
            <a:ext cx="5440680" cy="1371600"/>
          </a:xfrm>
          <a:prstGeom prst="roundRect">
            <a:avLst>
              <a:gd name="adj" fmla="val 5333"/>
            </a:avLst>
          </a:prstGeom>
          <a:solidFill>
            <a:srgbClr val="F4F7FC"/>
          </a:solidFill>
          <a:ln/>
        </p:spPr>
      </p:sp>
      <p:sp>
        <p:nvSpPr>
          <p:cNvPr id="25" name="Shape 23"/>
          <p:cNvSpPr/>
          <p:nvPr/>
        </p:nvSpPr>
        <p:spPr>
          <a:xfrm>
            <a:off x="731520" y="4873752"/>
            <a:ext cx="411480" cy="411480"/>
          </a:xfrm>
          <a:prstGeom prst="roundRect">
            <a:avLst>
              <a:gd name="adj" fmla="val 17778"/>
            </a:avLst>
          </a:prstGeom>
          <a:solidFill>
            <a:srgbClr val="3AA6A6"/>
          </a:solidFill>
          <a:ln/>
        </p:spPr>
      </p:sp>
      <p:sp>
        <p:nvSpPr>
          <p:cNvPr id="26" name="Text 24"/>
          <p:cNvSpPr/>
          <p:nvPr/>
        </p:nvSpPr>
        <p:spPr>
          <a:xfrm>
            <a:off x="731520" y="4873752"/>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7" name="Text 25"/>
          <p:cNvSpPr/>
          <p:nvPr/>
        </p:nvSpPr>
        <p:spPr>
          <a:xfrm>
            <a:off x="1280160" y="4846320"/>
            <a:ext cx="452628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RCA Engine</a:t>
            </a:r>
            <a:endParaRPr lang="en-US" sz="1300" dirty="0"/>
          </a:p>
        </p:txBody>
      </p:sp>
      <p:sp>
        <p:nvSpPr>
          <p:cNvPr id="28" name="Text 26"/>
          <p:cNvSpPr/>
          <p:nvPr/>
        </p:nvSpPr>
        <p:spPr>
          <a:xfrm>
            <a:off x="1280160" y="5212080"/>
            <a:ext cx="4526280" cy="777240"/>
          </a:xfrm>
          <a:prstGeom prst="rect">
            <a:avLst/>
          </a:prstGeom>
          <a:noFill/>
          <a:ln/>
        </p:spPr>
        <p:txBody>
          <a:bodyPr wrap="square" rtlCol="0" anchor="t"/>
          <a:lstStyle/>
          <a:p>
            <a:pPr indent="0" marL="0">
              <a:lnSpc>
                <a:spcPct val="110000"/>
              </a:lnSpc>
              <a:buNone/>
            </a:pPr>
            <a:r>
              <a:rPr lang="en-US" sz="1050" dirty="0">
                <a:solidFill>
                  <a:srgbClr val="20263B"/>
                </a:solidFill>
                <a:latin typeface="Calibri" pitchFamily="34" charset="0"/>
                <a:ea typeface="Calibri" pitchFamily="34" charset="-122"/>
                <a:cs typeface="Calibri" pitchFamily="34" charset="-120"/>
              </a:rPr>
              <a:t>Combines VLR check, IR pack requirement, balance/validity, issue type &amp; location</a:t>
            </a:r>
            <a:endParaRPr lang="en-US" sz="1050" dirty="0"/>
          </a:p>
        </p:txBody>
      </p:sp>
      <p:sp>
        <p:nvSpPr>
          <p:cNvPr id="29" name="Shape 27"/>
          <p:cNvSpPr/>
          <p:nvPr/>
        </p:nvSpPr>
        <p:spPr>
          <a:xfrm>
            <a:off x="6263640" y="4709160"/>
            <a:ext cx="5440680" cy="1371600"/>
          </a:xfrm>
          <a:prstGeom prst="roundRect">
            <a:avLst>
              <a:gd name="adj" fmla="val 5333"/>
            </a:avLst>
          </a:prstGeom>
          <a:solidFill>
            <a:srgbClr val="F4F7FC"/>
          </a:solidFill>
          <a:ln/>
        </p:spPr>
      </p:sp>
      <p:sp>
        <p:nvSpPr>
          <p:cNvPr id="30" name="Shape 28"/>
          <p:cNvSpPr/>
          <p:nvPr/>
        </p:nvSpPr>
        <p:spPr>
          <a:xfrm>
            <a:off x="6446520" y="4873752"/>
            <a:ext cx="411480" cy="411480"/>
          </a:xfrm>
          <a:prstGeom prst="roundRect">
            <a:avLst>
              <a:gd name="adj" fmla="val 17778"/>
            </a:avLst>
          </a:prstGeom>
          <a:solidFill>
            <a:srgbClr val="3AA6A6"/>
          </a:solidFill>
          <a:ln/>
        </p:spPr>
      </p:sp>
      <p:sp>
        <p:nvSpPr>
          <p:cNvPr id="31" name="Text 29"/>
          <p:cNvSpPr/>
          <p:nvPr/>
        </p:nvSpPr>
        <p:spPr>
          <a:xfrm>
            <a:off x="6446520" y="4873752"/>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2" name="Text 30"/>
          <p:cNvSpPr/>
          <p:nvPr/>
        </p:nvSpPr>
        <p:spPr>
          <a:xfrm>
            <a:off x="6995160" y="4846320"/>
            <a:ext cx="452628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Gradio UI</a:t>
            </a:r>
            <a:endParaRPr lang="en-US" sz="1300" dirty="0"/>
          </a:p>
        </p:txBody>
      </p:sp>
      <p:sp>
        <p:nvSpPr>
          <p:cNvPr id="33" name="Text 31"/>
          <p:cNvSpPr/>
          <p:nvPr/>
        </p:nvSpPr>
        <p:spPr>
          <a:xfrm>
            <a:off x="6995160" y="5212080"/>
            <a:ext cx="4526280" cy="777240"/>
          </a:xfrm>
          <a:prstGeom prst="rect">
            <a:avLst/>
          </a:prstGeom>
          <a:noFill/>
          <a:ln/>
        </p:spPr>
        <p:txBody>
          <a:bodyPr wrap="square" rtlCol="0" anchor="t"/>
          <a:lstStyle/>
          <a:p>
            <a:pPr indent="0" marL="0">
              <a:lnSpc>
                <a:spcPct val="110000"/>
              </a:lnSpc>
              <a:buNone/>
            </a:pPr>
            <a:r>
              <a:rPr lang="en-US" sz="1050" dirty="0">
                <a:solidFill>
                  <a:srgbClr val="20263B"/>
                </a:solidFill>
                <a:latin typeface="Calibri" pitchFamily="34" charset="0"/>
                <a:ea typeface="Calibri" pitchFamily="34" charset="-122"/>
                <a:cs typeface="Calibri" pitchFamily="34" charset="-120"/>
              </a:rPr>
              <a:t>Complaint input, auto-extracted fields, manual correction, RCA generation</a:t>
            </a:r>
            <a:endParaRPr lang="en-US" sz="1050" dirty="0"/>
          </a:p>
        </p:txBody>
      </p:sp>
      <p:sp>
        <p:nvSpPr>
          <p:cNvPr id="34" name="Text 32"/>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6B7394"/>
                </a:solidFill>
                <a:latin typeface="Calibri" pitchFamily="34" charset="0"/>
                <a:ea typeface="Calibri" pitchFamily="34" charset="-122"/>
                <a:cs typeface="Calibri" pitchFamily="34" charset="-120"/>
              </a:rPr>
              <a:t>Telecom Complaint Analyser</a:t>
            </a:r>
            <a:endParaRPr lang="en-US" sz="900" dirty="0"/>
          </a:p>
        </p:txBody>
      </p:sp>
      <p:sp>
        <p:nvSpPr>
          <p:cNvPr id="35" name="Text 33"/>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6B739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Results &amp; Discussion</a:t>
            </a:r>
            <a:endParaRPr lang="en-US" sz="3200" dirty="0"/>
          </a:p>
        </p:txBody>
      </p:sp>
      <p:sp>
        <p:nvSpPr>
          <p:cNvPr id="3" name="Text 1"/>
          <p:cNvSpPr/>
          <p:nvPr/>
        </p:nvSpPr>
        <p:spPr>
          <a:xfrm>
            <a:off x="548640" y="1508760"/>
            <a:ext cx="11064240" cy="640080"/>
          </a:xfrm>
          <a:prstGeom prst="rect">
            <a:avLst/>
          </a:prstGeom>
          <a:noFill/>
          <a:ln/>
        </p:spPr>
        <p:txBody>
          <a:bodyPr wrap="square" rtlCol="0" anchor="t"/>
          <a:lstStyle/>
          <a:p>
            <a:pPr indent="0" marL="0">
              <a:buNone/>
            </a:pPr>
            <a:r>
              <a:rPr lang="en-US" sz="1300" i="1" dirty="0">
                <a:solidFill>
                  <a:srgbClr val="6B7394"/>
                </a:solidFill>
                <a:latin typeface="Calibri" pitchFamily="34" charset="0"/>
                <a:ea typeface="Calibri" pitchFamily="34" charset="-122"/>
                <a:cs typeface="Calibri" pitchFamily="34" charset="-120"/>
              </a:rPr>
              <a:t>Tested with real Hinglish telecom complaints, e.g. “mai usa se hu mujhe call nhi aa rahi” and “mai dubai mei hu net speed nhi aa rahi”. Accuracy improved significantly after enhancing the keyword lists.</a:t>
            </a:r>
            <a:endParaRPr lang="en-US" sz="1300" dirty="0"/>
          </a:p>
        </p:txBody>
      </p:sp>
      <p:graphicFrame>
        <p:nvGraphicFramePr>
          <p:cNvPr id="4" name="Chart 0" descr=""/>
          <p:cNvGraphicFramePr/>
          <p:nvPr/>
        </p:nvGraphicFramePr>
        <p:xfrm>
          <a:off x="548640" y="2194560"/>
          <a:ext cx="640080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223760" y="2194560"/>
            <a:ext cx="4389120" cy="1828800"/>
          </a:xfrm>
          <a:prstGeom prst="roundRect">
            <a:avLst>
              <a:gd name="adj" fmla="val 5000"/>
            </a:avLst>
          </a:prstGeom>
          <a:solidFill>
            <a:srgbClr val="1E2761"/>
          </a:solidFill>
          <a:ln/>
        </p:spPr>
      </p:sp>
      <p:sp>
        <p:nvSpPr>
          <p:cNvPr id="6" name="Text 3"/>
          <p:cNvSpPr/>
          <p:nvPr/>
        </p:nvSpPr>
        <p:spPr>
          <a:xfrm>
            <a:off x="7406640" y="2286000"/>
            <a:ext cx="4023360" cy="822960"/>
          </a:xfrm>
          <a:prstGeom prst="rect">
            <a:avLst/>
          </a:prstGeom>
          <a:noFill/>
          <a:ln/>
        </p:spPr>
        <p:txBody>
          <a:bodyPr wrap="square" rtlCol="0" anchor="ctr"/>
          <a:lstStyle/>
          <a:p>
            <a:pPr indent="0" marL="0">
              <a:buNone/>
            </a:pPr>
            <a:r>
              <a:rPr lang="en-US" sz="4400" b="1" dirty="0">
                <a:solidFill>
                  <a:srgbClr val="CADCFC"/>
                </a:solidFill>
                <a:latin typeface="Cambria" pitchFamily="34" charset="0"/>
                <a:ea typeface="Cambria" pitchFamily="34" charset="-122"/>
                <a:cs typeface="Cambria" pitchFamily="34" charset="-120"/>
              </a:rPr>
              <a:t>80%</a:t>
            </a:r>
            <a:endParaRPr lang="en-US" sz="4400" dirty="0"/>
          </a:p>
        </p:txBody>
      </p:sp>
      <p:sp>
        <p:nvSpPr>
          <p:cNvPr id="7" name="Text 4"/>
          <p:cNvSpPr/>
          <p:nvPr/>
        </p:nvSpPr>
        <p:spPr>
          <a:xfrm>
            <a:off x="7406640" y="3063240"/>
            <a:ext cx="4023360" cy="82296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reduction in agent workload — agents only intervene when extraction is wrong</a:t>
            </a:r>
            <a:endParaRPr lang="en-US" sz="1200" dirty="0"/>
          </a:p>
        </p:txBody>
      </p:sp>
      <p:sp>
        <p:nvSpPr>
          <p:cNvPr id="8" name="Shape 5"/>
          <p:cNvSpPr/>
          <p:nvPr/>
        </p:nvSpPr>
        <p:spPr>
          <a:xfrm>
            <a:off x="7223760" y="4206240"/>
            <a:ext cx="4389120" cy="1920240"/>
          </a:xfrm>
          <a:prstGeom prst="roundRect">
            <a:avLst>
              <a:gd name="adj" fmla="val 4762"/>
            </a:avLst>
          </a:prstGeom>
          <a:solidFill>
            <a:srgbClr val="F4F7FC"/>
          </a:solidFill>
          <a:ln/>
        </p:spPr>
      </p:sp>
      <p:sp>
        <p:nvSpPr>
          <p:cNvPr id="9" name="Text 6"/>
          <p:cNvSpPr/>
          <p:nvPr/>
        </p:nvSpPr>
        <p:spPr>
          <a:xfrm>
            <a:off x="7452360" y="4389120"/>
            <a:ext cx="3931920" cy="320040"/>
          </a:xfrm>
          <a:prstGeom prst="rect">
            <a:avLst/>
          </a:prstGeom>
          <a:noFill/>
          <a:ln/>
        </p:spPr>
        <p:txBody>
          <a:bodyPr wrap="square" rtlCol="0" anchor="ctr"/>
          <a:lstStyle/>
          <a:p>
            <a:pPr indent="0" marL="0">
              <a:buNone/>
            </a:pPr>
            <a:r>
              <a:rPr lang="en-US" sz="1200" b="1" spc="100" kern="0" dirty="0">
                <a:solidFill>
                  <a:srgbClr val="1E2761"/>
                </a:solidFill>
                <a:latin typeface="Calibri" pitchFamily="34" charset="0"/>
                <a:ea typeface="Calibri" pitchFamily="34" charset="-122"/>
                <a:cs typeface="Calibri" pitchFamily="34" charset="-120"/>
              </a:rPr>
              <a:t>RCA GENERATION</a:t>
            </a:r>
            <a:endParaRPr lang="en-US" sz="1200" dirty="0"/>
          </a:p>
        </p:txBody>
      </p:sp>
      <p:sp>
        <p:nvSpPr>
          <p:cNvPr id="10" name="Text 7"/>
          <p:cNvSpPr/>
          <p:nvPr/>
        </p:nvSpPr>
        <p:spPr>
          <a:xfrm>
            <a:off x="7452360" y="4754880"/>
            <a:ext cx="3931920" cy="1188720"/>
          </a:xfrm>
          <a:prstGeom prst="rect">
            <a:avLst/>
          </a:prstGeom>
          <a:noFill/>
          <a:ln/>
        </p:spPr>
        <p:txBody>
          <a:bodyPr wrap="square" rtlCol="0" anchor="t"/>
          <a:lstStyle/>
          <a:p>
            <a:pPr indent="0" marL="0">
              <a:lnSpc>
                <a:spcPct val="115000"/>
              </a:lnSpc>
              <a:buNone/>
            </a:pPr>
            <a:r>
              <a:rPr lang="en-US" sz="1200" dirty="0">
                <a:solidFill>
                  <a:srgbClr val="20263B"/>
                </a:solidFill>
                <a:latin typeface="Calibri" pitchFamily="34" charset="0"/>
                <a:ea typeface="Calibri" pitchFamily="34" charset="-122"/>
                <a:cs typeface="Calibri" pitchFamily="34" charset="-120"/>
              </a:rPr>
              <a:t>Highly consistent, due to deterministic system logic combining rule-based fields with LLM fallback context.</a:t>
            </a:r>
            <a:endParaRPr lang="en-US" sz="1200" dirty="0"/>
          </a:p>
        </p:txBody>
      </p:sp>
      <p:sp>
        <p:nvSpPr>
          <p:cNvPr id="11" name="Text 8"/>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6B7394"/>
                </a:solidFill>
                <a:latin typeface="Calibri" pitchFamily="34" charset="0"/>
                <a:ea typeface="Calibri" pitchFamily="34" charset="-122"/>
                <a:cs typeface="Calibri" pitchFamily="34" charset="-120"/>
              </a:rPr>
              <a:t>Telecom Complaint Analyser</a:t>
            </a:r>
            <a:endParaRPr lang="en-US" sz="900" dirty="0"/>
          </a:p>
        </p:txBody>
      </p:sp>
      <p:sp>
        <p:nvSpPr>
          <p:cNvPr id="12" name="Text 9"/>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6B739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875520" y="4389120"/>
            <a:ext cx="3291840" cy="3291840"/>
          </a:xfrm>
          <a:prstGeom prst="ellipse">
            <a:avLst/>
          </a:prstGeom>
          <a:solidFill>
            <a:srgbClr val="263572"/>
          </a:solidFill>
          <a:ln/>
        </p:spPr>
      </p:sp>
      <p:sp>
        <p:nvSpPr>
          <p:cNvPr id="3" name="Text 1"/>
          <p:cNvSpPr/>
          <p:nvPr/>
        </p:nvSpPr>
        <p:spPr>
          <a:xfrm>
            <a:off x="640080" y="548640"/>
            <a:ext cx="73152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4" name="Shape 2"/>
          <p:cNvSpPr/>
          <p:nvPr/>
        </p:nvSpPr>
        <p:spPr>
          <a:xfrm>
            <a:off x="640080" y="1600200"/>
            <a:ext cx="109728" cy="457200"/>
          </a:xfrm>
          <a:prstGeom prst="roundRect">
            <a:avLst/>
          </a:prstGeom>
          <a:solidFill>
            <a:srgbClr val="3AA6A6"/>
          </a:solidFill>
          <a:ln/>
        </p:spPr>
      </p:sp>
      <p:sp>
        <p:nvSpPr>
          <p:cNvPr id="5" name="Text 3"/>
          <p:cNvSpPr/>
          <p:nvPr/>
        </p:nvSpPr>
        <p:spPr>
          <a:xfrm>
            <a:off x="914400" y="1554480"/>
            <a:ext cx="7955280" cy="594360"/>
          </a:xfrm>
          <a:prstGeom prst="rect">
            <a:avLst/>
          </a:prstGeom>
          <a:noFill/>
          <a:ln/>
        </p:spPr>
        <p:txBody>
          <a:bodyPr wrap="square" rtlCol="0" anchor="t"/>
          <a:lstStyle/>
          <a:p>
            <a:pPr indent="0" marL="0">
              <a:lnSpc>
                <a:spcPct val="110000"/>
              </a:lnSpc>
              <a:buNone/>
            </a:pPr>
            <a:r>
              <a:rPr lang="en-US" sz="1400" dirty="0">
                <a:solidFill>
                  <a:srgbClr val="FFFFFF"/>
                </a:solidFill>
                <a:latin typeface="Calibri" pitchFamily="34" charset="0"/>
                <a:ea typeface="Calibri" pitchFamily="34" charset="-122"/>
                <a:cs typeface="Calibri" pitchFamily="34" charset="-120"/>
              </a:rPr>
              <a:t>Effectively addresses unstructured, multilingual complaints in Hindi, Hinglish, and English</a:t>
            </a:r>
            <a:endParaRPr lang="en-US" sz="1400" dirty="0"/>
          </a:p>
        </p:txBody>
      </p:sp>
      <p:sp>
        <p:nvSpPr>
          <p:cNvPr id="6" name="Shape 4"/>
          <p:cNvSpPr/>
          <p:nvPr/>
        </p:nvSpPr>
        <p:spPr>
          <a:xfrm>
            <a:off x="640080" y="2377440"/>
            <a:ext cx="109728" cy="457200"/>
          </a:xfrm>
          <a:prstGeom prst="roundRect">
            <a:avLst/>
          </a:prstGeom>
          <a:solidFill>
            <a:srgbClr val="3AA6A6"/>
          </a:solidFill>
          <a:ln/>
        </p:spPr>
      </p:sp>
      <p:sp>
        <p:nvSpPr>
          <p:cNvPr id="7" name="Text 5"/>
          <p:cNvSpPr/>
          <p:nvPr/>
        </p:nvSpPr>
        <p:spPr>
          <a:xfrm>
            <a:off x="914400" y="2331720"/>
            <a:ext cx="7955280" cy="594360"/>
          </a:xfrm>
          <a:prstGeom prst="rect">
            <a:avLst/>
          </a:prstGeom>
          <a:noFill/>
          <a:ln/>
        </p:spPr>
        <p:txBody>
          <a:bodyPr wrap="square" rtlCol="0" anchor="t"/>
          <a:lstStyle/>
          <a:p>
            <a:pPr indent="0" marL="0">
              <a:lnSpc>
                <a:spcPct val="110000"/>
              </a:lnSpc>
              <a:buNone/>
            </a:pPr>
            <a:r>
              <a:rPr lang="en-US" sz="1400" dirty="0">
                <a:solidFill>
                  <a:srgbClr val="FFFFFF"/>
                </a:solidFill>
                <a:latin typeface="Calibri" pitchFamily="34" charset="0"/>
                <a:ea typeface="Calibri" pitchFamily="34" charset="-122"/>
                <a:cs typeface="Calibri" pitchFamily="34" charset="-120"/>
              </a:rPr>
              <a:t>Combines deterministic precision (rules) with contextual adaptability (Mistral LLM via Ollama)</a:t>
            </a:r>
            <a:endParaRPr lang="en-US" sz="1400" dirty="0"/>
          </a:p>
        </p:txBody>
      </p:sp>
      <p:sp>
        <p:nvSpPr>
          <p:cNvPr id="8" name="Shape 6"/>
          <p:cNvSpPr/>
          <p:nvPr/>
        </p:nvSpPr>
        <p:spPr>
          <a:xfrm>
            <a:off x="640080" y="3154680"/>
            <a:ext cx="109728" cy="457200"/>
          </a:xfrm>
          <a:prstGeom prst="roundRect">
            <a:avLst/>
          </a:prstGeom>
          <a:solidFill>
            <a:srgbClr val="3AA6A6"/>
          </a:solidFill>
          <a:ln/>
        </p:spPr>
      </p:sp>
      <p:sp>
        <p:nvSpPr>
          <p:cNvPr id="9" name="Text 7"/>
          <p:cNvSpPr/>
          <p:nvPr/>
        </p:nvSpPr>
        <p:spPr>
          <a:xfrm>
            <a:off x="914400" y="3108960"/>
            <a:ext cx="7955280" cy="594360"/>
          </a:xfrm>
          <a:prstGeom prst="rect">
            <a:avLst/>
          </a:prstGeom>
          <a:noFill/>
          <a:ln/>
        </p:spPr>
        <p:txBody>
          <a:bodyPr wrap="square" rtlCol="0" anchor="t"/>
          <a:lstStyle/>
          <a:p>
            <a:pPr indent="0" marL="0">
              <a:lnSpc>
                <a:spcPct val="110000"/>
              </a:lnSpc>
              <a:buNone/>
            </a:pPr>
            <a:r>
              <a:rPr lang="en-US" sz="1400" dirty="0">
                <a:solidFill>
                  <a:srgbClr val="FFFFFF"/>
                </a:solidFill>
                <a:latin typeface="Calibri" pitchFamily="34" charset="0"/>
                <a:ea typeface="Calibri" pitchFamily="34" charset="-122"/>
                <a:cs typeface="Calibri" pitchFamily="34" charset="-120"/>
              </a:rPr>
              <a:t>Minimizes false interpretations and model hallucinations common in purely AI-driven systems</a:t>
            </a:r>
            <a:endParaRPr lang="en-US" sz="1400" dirty="0"/>
          </a:p>
        </p:txBody>
      </p:sp>
      <p:sp>
        <p:nvSpPr>
          <p:cNvPr id="10" name="Shape 8"/>
          <p:cNvSpPr/>
          <p:nvPr/>
        </p:nvSpPr>
        <p:spPr>
          <a:xfrm>
            <a:off x="640080" y="3931920"/>
            <a:ext cx="109728" cy="457200"/>
          </a:xfrm>
          <a:prstGeom prst="roundRect">
            <a:avLst/>
          </a:prstGeom>
          <a:solidFill>
            <a:srgbClr val="3AA6A6"/>
          </a:solidFill>
          <a:ln/>
        </p:spPr>
      </p:sp>
      <p:sp>
        <p:nvSpPr>
          <p:cNvPr id="11" name="Text 9"/>
          <p:cNvSpPr/>
          <p:nvPr/>
        </p:nvSpPr>
        <p:spPr>
          <a:xfrm>
            <a:off x="914400" y="3886200"/>
            <a:ext cx="7955280" cy="594360"/>
          </a:xfrm>
          <a:prstGeom prst="rect">
            <a:avLst/>
          </a:prstGeom>
          <a:noFill/>
          <a:ln/>
        </p:spPr>
        <p:txBody>
          <a:bodyPr wrap="square" rtlCol="0" anchor="t"/>
          <a:lstStyle/>
          <a:p>
            <a:pPr indent="0" marL="0">
              <a:lnSpc>
                <a:spcPct val="110000"/>
              </a:lnSpc>
              <a:buNone/>
            </a:pPr>
            <a:r>
              <a:rPr lang="en-US" sz="1400" dirty="0">
                <a:solidFill>
                  <a:srgbClr val="FFFFFF"/>
                </a:solidFill>
                <a:latin typeface="Calibri" pitchFamily="34" charset="0"/>
                <a:ea typeface="Calibri" pitchFamily="34" charset="-122"/>
                <a:cs typeface="Calibri" pitchFamily="34" charset="-120"/>
              </a:rPr>
              <a:t>Automated RCA generation empowers faster response times and higher customer satisfaction</a:t>
            </a:r>
            <a:endParaRPr lang="en-US" sz="1400" dirty="0"/>
          </a:p>
        </p:txBody>
      </p:sp>
      <p:sp>
        <p:nvSpPr>
          <p:cNvPr id="12" name="Shape 10"/>
          <p:cNvSpPr/>
          <p:nvPr/>
        </p:nvSpPr>
        <p:spPr>
          <a:xfrm>
            <a:off x="640080" y="4709160"/>
            <a:ext cx="109728" cy="457200"/>
          </a:xfrm>
          <a:prstGeom prst="roundRect">
            <a:avLst/>
          </a:prstGeom>
          <a:solidFill>
            <a:srgbClr val="3AA6A6"/>
          </a:solidFill>
          <a:ln/>
        </p:spPr>
      </p:sp>
      <p:sp>
        <p:nvSpPr>
          <p:cNvPr id="13" name="Text 11"/>
          <p:cNvSpPr/>
          <p:nvPr/>
        </p:nvSpPr>
        <p:spPr>
          <a:xfrm>
            <a:off x="914400" y="4663440"/>
            <a:ext cx="7955280" cy="594360"/>
          </a:xfrm>
          <a:prstGeom prst="rect">
            <a:avLst/>
          </a:prstGeom>
          <a:noFill/>
          <a:ln/>
        </p:spPr>
        <p:txBody>
          <a:bodyPr wrap="square" rtlCol="0" anchor="t"/>
          <a:lstStyle/>
          <a:p>
            <a:pPr indent="0" marL="0">
              <a:lnSpc>
                <a:spcPct val="110000"/>
              </a:lnSpc>
              <a:buNone/>
            </a:pPr>
            <a:r>
              <a:rPr lang="en-US" sz="1400" dirty="0">
                <a:solidFill>
                  <a:srgbClr val="FFFFFF"/>
                </a:solidFill>
                <a:latin typeface="Calibri" pitchFamily="34" charset="0"/>
                <a:ea typeface="Calibri" pitchFamily="34" charset="-122"/>
                <a:cs typeface="Calibri" pitchFamily="34" charset="-120"/>
              </a:rPr>
              <a:t>Reduces manual effort, letting agents focus on complex, high-value cases</a:t>
            </a:r>
            <a:endParaRPr lang="en-US" sz="1400" dirty="0"/>
          </a:p>
        </p:txBody>
      </p:sp>
      <p:sp>
        <p:nvSpPr>
          <p:cNvPr id="14" name="Text 12"/>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6B7394"/>
                </a:solidFill>
                <a:latin typeface="Calibri" pitchFamily="34" charset="0"/>
                <a:ea typeface="Calibri" pitchFamily="34" charset="-122"/>
                <a:cs typeface="Calibri" pitchFamily="34" charset="-120"/>
              </a:rPr>
              <a:t>Telecom Complaint Analyser</a:t>
            </a:r>
            <a:endParaRPr lang="en-US" sz="900" dirty="0"/>
          </a:p>
        </p:txBody>
      </p:sp>
      <p:sp>
        <p:nvSpPr>
          <p:cNvPr id="15" name="Text 13"/>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6B739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Future Scope</a:t>
            </a:r>
            <a:endParaRPr lang="en-US" sz="3200" dirty="0"/>
          </a:p>
        </p:txBody>
      </p:sp>
      <p:sp>
        <p:nvSpPr>
          <p:cNvPr id="3" name="Shape 1"/>
          <p:cNvSpPr/>
          <p:nvPr/>
        </p:nvSpPr>
        <p:spPr>
          <a:xfrm>
            <a:off x="548640" y="1737360"/>
            <a:ext cx="3566160" cy="2103120"/>
          </a:xfrm>
          <a:prstGeom prst="roundRect">
            <a:avLst>
              <a:gd name="adj" fmla="val 4348"/>
            </a:avLst>
          </a:prstGeom>
          <a:solidFill>
            <a:srgbClr val="F4F7FC"/>
          </a:solidFill>
          <a:ln/>
        </p:spPr>
      </p:sp>
      <p:sp>
        <p:nvSpPr>
          <p:cNvPr id="4" name="Shape 2"/>
          <p:cNvSpPr/>
          <p:nvPr/>
        </p:nvSpPr>
        <p:spPr>
          <a:xfrm>
            <a:off x="777240" y="1965960"/>
            <a:ext cx="457200" cy="457200"/>
          </a:xfrm>
          <a:prstGeom prst="ellipse">
            <a:avLst/>
          </a:prstGeom>
          <a:solidFill>
            <a:srgbClr val="3AA6A6"/>
          </a:solidFill>
          <a:ln/>
        </p:spPr>
      </p:sp>
      <p:sp>
        <p:nvSpPr>
          <p:cNvPr id="5" name="Text 3"/>
          <p:cNvSpPr/>
          <p:nvPr/>
        </p:nvSpPr>
        <p:spPr>
          <a:xfrm>
            <a:off x="777240" y="196596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777240" y="2606040"/>
            <a:ext cx="3108960" cy="1097280"/>
          </a:xfrm>
          <a:prstGeom prst="rect">
            <a:avLst/>
          </a:prstGeom>
          <a:noFill/>
          <a:ln/>
        </p:spPr>
        <p:txBody>
          <a:bodyPr wrap="square" rtlCol="0" anchor="t"/>
          <a:lstStyle/>
          <a:p>
            <a:pPr indent="0" marL="0">
              <a:lnSpc>
                <a:spcPct val="115000"/>
              </a:lnSpc>
              <a:buNone/>
            </a:pPr>
            <a:r>
              <a:rPr lang="en-US" sz="1200" dirty="0">
                <a:solidFill>
                  <a:srgbClr val="20263B"/>
                </a:solidFill>
                <a:latin typeface="Calibri" pitchFamily="34" charset="0"/>
                <a:ea typeface="Calibri" pitchFamily="34" charset="-122"/>
                <a:cs typeface="Calibri" pitchFamily="34" charset="-120"/>
              </a:rPr>
              <a:t>Integration with telecom databases for real-time validation</a:t>
            </a:r>
            <a:endParaRPr lang="en-US" sz="1200" dirty="0"/>
          </a:p>
        </p:txBody>
      </p:sp>
      <p:sp>
        <p:nvSpPr>
          <p:cNvPr id="7" name="Shape 5"/>
          <p:cNvSpPr/>
          <p:nvPr/>
        </p:nvSpPr>
        <p:spPr>
          <a:xfrm>
            <a:off x="4343400" y="1737360"/>
            <a:ext cx="3566160" cy="2103120"/>
          </a:xfrm>
          <a:prstGeom prst="roundRect">
            <a:avLst>
              <a:gd name="adj" fmla="val 4348"/>
            </a:avLst>
          </a:prstGeom>
          <a:solidFill>
            <a:srgbClr val="F4F7FC"/>
          </a:solidFill>
          <a:ln/>
        </p:spPr>
      </p:sp>
      <p:sp>
        <p:nvSpPr>
          <p:cNvPr id="8" name="Shape 6"/>
          <p:cNvSpPr/>
          <p:nvPr/>
        </p:nvSpPr>
        <p:spPr>
          <a:xfrm>
            <a:off x="4572000" y="1965960"/>
            <a:ext cx="457200" cy="457200"/>
          </a:xfrm>
          <a:prstGeom prst="ellipse">
            <a:avLst/>
          </a:prstGeom>
          <a:solidFill>
            <a:srgbClr val="3AA6A6"/>
          </a:solidFill>
          <a:ln/>
        </p:spPr>
      </p:sp>
      <p:sp>
        <p:nvSpPr>
          <p:cNvPr id="9" name="Text 7"/>
          <p:cNvSpPr/>
          <p:nvPr/>
        </p:nvSpPr>
        <p:spPr>
          <a:xfrm>
            <a:off x="4572000" y="196596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4572000" y="2606040"/>
            <a:ext cx="3108960" cy="1097280"/>
          </a:xfrm>
          <a:prstGeom prst="rect">
            <a:avLst/>
          </a:prstGeom>
          <a:noFill/>
          <a:ln/>
        </p:spPr>
        <p:txBody>
          <a:bodyPr wrap="square" rtlCol="0" anchor="t"/>
          <a:lstStyle/>
          <a:p>
            <a:pPr indent="0" marL="0">
              <a:lnSpc>
                <a:spcPct val="115000"/>
              </a:lnSpc>
              <a:buNone/>
            </a:pPr>
            <a:r>
              <a:rPr lang="en-US" sz="1200" dirty="0">
                <a:solidFill>
                  <a:srgbClr val="20263B"/>
                </a:solidFill>
                <a:latin typeface="Calibri" pitchFamily="34" charset="0"/>
                <a:ea typeface="Calibri" pitchFamily="34" charset="-122"/>
                <a:cs typeface="Calibri" pitchFamily="34" charset="-120"/>
              </a:rPr>
              <a:t>Support for more Indian regional languages (Marathi, Gujarati, Tamil, etc.)</a:t>
            </a:r>
            <a:endParaRPr lang="en-US" sz="1200" dirty="0"/>
          </a:p>
        </p:txBody>
      </p:sp>
      <p:sp>
        <p:nvSpPr>
          <p:cNvPr id="11" name="Shape 9"/>
          <p:cNvSpPr/>
          <p:nvPr/>
        </p:nvSpPr>
        <p:spPr>
          <a:xfrm>
            <a:off x="8138160" y="1737360"/>
            <a:ext cx="3566160" cy="2103120"/>
          </a:xfrm>
          <a:prstGeom prst="roundRect">
            <a:avLst>
              <a:gd name="adj" fmla="val 4348"/>
            </a:avLst>
          </a:prstGeom>
          <a:solidFill>
            <a:srgbClr val="F4F7FC"/>
          </a:solidFill>
          <a:ln/>
        </p:spPr>
      </p:sp>
      <p:sp>
        <p:nvSpPr>
          <p:cNvPr id="12" name="Shape 10"/>
          <p:cNvSpPr/>
          <p:nvPr/>
        </p:nvSpPr>
        <p:spPr>
          <a:xfrm>
            <a:off x="8366760" y="1965960"/>
            <a:ext cx="457200" cy="457200"/>
          </a:xfrm>
          <a:prstGeom prst="ellipse">
            <a:avLst/>
          </a:prstGeom>
          <a:solidFill>
            <a:srgbClr val="3AA6A6"/>
          </a:solidFill>
          <a:ln/>
        </p:spPr>
      </p:sp>
      <p:sp>
        <p:nvSpPr>
          <p:cNvPr id="13" name="Text 11"/>
          <p:cNvSpPr/>
          <p:nvPr/>
        </p:nvSpPr>
        <p:spPr>
          <a:xfrm>
            <a:off x="8366760" y="196596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4" name="Text 12"/>
          <p:cNvSpPr/>
          <p:nvPr/>
        </p:nvSpPr>
        <p:spPr>
          <a:xfrm>
            <a:off x="8366760" y="2606040"/>
            <a:ext cx="3108960" cy="1097280"/>
          </a:xfrm>
          <a:prstGeom prst="rect">
            <a:avLst/>
          </a:prstGeom>
          <a:noFill/>
          <a:ln/>
        </p:spPr>
        <p:txBody>
          <a:bodyPr wrap="square" rtlCol="0" anchor="t"/>
          <a:lstStyle/>
          <a:p>
            <a:pPr indent="0" marL="0">
              <a:lnSpc>
                <a:spcPct val="115000"/>
              </a:lnSpc>
              <a:buNone/>
            </a:pPr>
            <a:r>
              <a:rPr lang="en-US" sz="1200" dirty="0">
                <a:solidFill>
                  <a:srgbClr val="20263B"/>
                </a:solidFill>
                <a:latin typeface="Calibri" pitchFamily="34" charset="0"/>
                <a:ea typeface="Calibri" pitchFamily="34" charset="-122"/>
                <a:cs typeface="Calibri" pitchFamily="34" charset="-120"/>
              </a:rPr>
              <a:t>Sentiment analysis to prioritize customer urgency</a:t>
            </a:r>
            <a:endParaRPr lang="en-US" sz="1200" dirty="0"/>
          </a:p>
        </p:txBody>
      </p:sp>
      <p:sp>
        <p:nvSpPr>
          <p:cNvPr id="15" name="Shape 13"/>
          <p:cNvSpPr/>
          <p:nvPr/>
        </p:nvSpPr>
        <p:spPr>
          <a:xfrm>
            <a:off x="548640" y="4114800"/>
            <a:ext cx="3566160" cy="2103120"/>
          </a:xfrm>
          <a:prstGeom prst="roundRect">
            <a:avLst>
              <a:gd name="adj" fmla="val 4348"/>
            </a:avLst>
          </a:prstGeom>
          <a:solidFill>
            <a:srgbClr val="F4F7FC"/>
          </a:solidFill>
          <a:ln/>
        </p:spPr>
      </p:sp>
      <p:sp>
        <p:nvSpPr>
          <p:cNvPr id="16" name="Shape 14"/>
          <p:cNvSpPr/>
          <p:nvPr/>
        </p:nvSpPr>
        <p:spPr>
          <a:xfrm>
            <a:off x="777240" y="4343400"/>
            <a:ext cx="457200" cy="457200"/>
          </a:xfrm>
          <a:prstGeom prst="ellipse">
            <a:avLst/>
          </a:prstGeom>
          <a:solidFill>
            <a:srgbClr val="3AA6A6"/>
          </a:solidFill>
          <a:ln/>
        </p:spPr>
      </p:sp>
      <p:sp>
        <p:nvSpPr>
          <p:cNvPr id="17" name="Text 15"/>
          <p:cNvSpPr/>
          <p:nvPr/>
        </p:nvSpPr>
        <p:spPr>
          <a:xfrm>
            <a:off x="777240" y="434340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8" name="Text 16"/>
          <p:cNvSpPr/>
          <p:nvPr/>
        </p:nvSpPr>
        <p:spPr>
          <a:xfrm>
            <a:off x="777240" y="4983480"/>
            <a:ext cx="3108960" cy="1097280"/>
          </a:xfrm>
          <a:prstGeom prst="rect">
            <a:avLst/>
          </a:prstGeom>
          <a:noFill/>
          <a:ln/>
        </p:spPr>
        <p:txBody>
          <a:bodyPr wrap="square" rtlCol="0" anchor="t"/>
          <a:lstStyle/>
          <a:p>
            <a:pPr indent="0" marL="0">
              <a:lnSpc>
                <a:spcPct val="115000"/>
              </a:lnSpc>
              <a:buNone/>
            </a:pPr>
            <a:r>
              <a:rPr lang="en-US" sz="1200" dirty="0">
                <a:solidFill>
                  <a:srgbClr val="20263B"/>
                </a:solidFill>
                <a:latin typeface="Calibri" pitchFamily="34" charset="0"/>
                <a:ea typeface="Calibri" pitchFamily="34" charset="-122"/>
                <a:cs typeface="Calibri" pitchFamily="34" charset="-120"/>
              </a:rPr>
              <a:t>Deploy as a cloud API for telecom companies</a:t>
            </a:r>
            <a:endParaRPr lang="en-US" sz="1200" dirty="0"/>
          </a:p>
        </p:txBody>
      </p:sp>
      <p:sp>
        <p:nvSpPr>
          <p:cNvPr id="19" name="Shape 17"/>
          <p:cNvSpPr/>
          <p:nvPr/>
        </p:nvSpPr>
        <p:spPr>
          <a:xfrm>
            <a:off x="4343400" y="4114800"/>
            <a:ext cx="3566160" cy="2103120"/>
          </a:xfrm>
          <a:prstGeom prst="roundRect">
            <a:avLst>
              <a:gd name="adj" fmla="val 4348"/>
            </a:avLst>
          </a:prstGeom>
          <a:solidFill>
            <a:srgbClr val="F4F7FC"/>
          </a:solidFill>
          <a:ln/>
        </p:spPr>
      </p:sp>
      <p:sp>
        <p:nvSpPr>
          <p:cNvPr id="20" name="Shape 18"/>
          <p:cNvSpPr/>
          <p:nvPr/>
        </p:nvSpPr>
        <p:spPr>
          <a:xfrm>
            <a:off x="4572000" y="4343400"/>
            <a:ext cx="457200" cy="457200"/>
          </a:xfrm>
          <a:prstGeom prst="ellipse">
            <a:avLst/>
          </a:prstGeom>
          <a:solidFill>
            <a:srgbClr val="3AA6A6"/>
          </a:solidFill>
          <a:ln/>
        </p:spPr>
      </p:sp>
      <p:sp>
        <p:nvSpPr>
          <p:cNvPr id="21" name="Text 19"/>
          <p:cNvSpPr/>
          <p:nvPr/>
        </p:nvSpPr>
        <p:spPr>
          <a:xfrm>
            <a:off x="4572000" y="434340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2" name="Text 20"/>
          <p:cNvSpPr/>
          <p:nvPr/>
        </p:nvSpPr>
        <p:spPr>
          <a:xfrm>
            <a:off x="4572000" y="4983480"/>
            <a:ext cx="3108960" cy="1097280"/>
          </a:xfrm>
          <a:prstGeom prst="rect">
            <a:avLst/>
          </a:prstGeom>
          <a:noFill/>
          <a:ln/>
        </p:spPr>
        <p:txBody>
          <a:bodyPr wrap="square" rtlCol="0" anchor="t"/>
          <a:lstStyle/>
          <a:p>
            <a:pPr indent="0" marL="0">
              <a:lnSpc>
                <a:spcPct val="115000"/>
              </a:lnSpc>
              <a:buNone/>
            </a:pPr>
            <a:r>
              <a:rPr lang="en-US" sz="1200" dirty="0">
                <a:solidFill>
                  <a:srgbClr val="20263B"/>
                </a:solidFill>
                <a:latin typeface="Calibri" pitchFamily="34" charset="0"/>
                <a:ea typeface="Calibri" pitchFamily="34" charset="-122"/>
                <a:cs typeface="Calibri" pitchFamily="34" charset="-120"/>
              </a:rPr>
              <a:t>Fine-tuned custom model for more accurate Hinglish detection</a:t>
            </a:r>
            <a:endParaRPr lang="en-US" sz="1200" dirty="0"/>
          </a:p>
        </p:txBody>
      </p:sp>
      <p:sp>
        <p:nvSpPr>
          <p:cNvPr id="23" name="Shape 21"/>
          <p:cNvSpPr/>
          <p:nvPr/>
        </p:nvSpPr>
        <p:spPr>
          <a:xfrm>
            <a:off x="8138160" y="4114800"/>
            <a:ext cx="3566160" cy="2103120"/>
          </a:xfrm>
          <a:prstGeom prst="roundRect">
            <a:avLst>
              <a:gd name="adj" fmla="val 4348"/>
            </a:avLst>
          </a:prstGeom>
          <a:solidFill>
            <a:srgbClr val="F4F7FC"/>
          </a:solidFill>
          <a:ln/>
        </p:spPr>
      </p:sp>
      <p:sp>
        <p:nvSpPr>
          <p:cNvPr id="24" name="Shape 22"/>
          <p:cNvSpPr/>
          <p:nvPr/>
        </p:nvSpPr>
        <p:spPr>
          <a:xfrm>
            <a:off x="8366760" y="4343400"/>
            <a:ext cx="457200" cy="457200"/>
          </a:xfrm>
          <a:prstGeom prst="ellipse">
            <a:avLst/>
          </a:prstGeom>
          <a:solidFill>
            <a:srgbClr val="3AA6A6"/>
          </a:solidFill>
          <a:ln/>
        </p:spPr>
      </p:sp>
      <p:sp>
        <p:nvSpPr>
          <p:cNvPr id="25" name="Text 23"/>
          <p:cNvSpPr/>
          <p:nvPr/>
        </p:nvSpPr>
        <p:spPr>
          <a:xfrm>
            <a:off x="8366760" y="434340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6" name="Text 24"/>
          <p:cNvSpPr/>
          <p:nvPr/>
        </p:nvSpPr>
        <p:spPr>
          <a:xfrm>
            <a:off x="8366760" y="4983480"/>
            <a:ext cx="3108960" cy="1097280"/>
          </a:xfrm>
          <a:prstGeom prst="rect">
            <a:avLst/>
          </a:prstGeom>
          <a:noFill/>
          <a:ln/>
        </p:spPr>
        <p:txBody>
          <a:bodyPr wrap="square" rtlCol="0" anchor="t"/>
          <a:lstStyle/>
          <a:p>
            <a:pPr indent="0" marL="0">
              <a:lnSpc>
                <a:spcPct val="115000"/>
              </a:lnSpc>
              <a:buNone/>
            </a:pPr>
            <a:r>
              <a:rPr lang="en-US" sz="1200" dirty="0">
                <a:solidFill>
                  <a:srgbClr val="20263B"/>
                </a:solidFill>
                <a:latin typeface="Calibri" pitchFamily="34" charset="0"/>
                <a:ea typeface="Calibri" pitchFamily="34" charset="-122"/>
                <a:cs typeface="Calibri" pitchFamily="34" charset="-120"/>
              </a:rPr>
              <a:t>Audio complaint-to-text integration</a:t>
            </a:r>
            <a:endParaRPr lang="en-US" sz="1200" dirty="0"/>
          </a:p>
        </p:txBody>
      </p:sp>
      <p:sp>
        <p:nvSpPr>
          <p:cNvPr id="27" name="Text 25"/>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6B7394"/>
                </a:solidFill>
                <a:latin typeface="Calibri" pitchFamily="34" charset="0"/>
                <a:ea typeface="Calibri" pitchFamily="34" charset="-122"/>
                <a:cs typeface="Calibri" pitchFamily="34" charset="-120"/>
              </a:rPr>
              <a:t>Telecom Complaint Analyser</a:t>
            </a:r>
            <a:endParaRPr lang="en-US" sz="900" dirty="0"/>
          </a:p>
        </p:txBody>
      </p:sp>
      <p:sp>
        <p:nvSpPr>
          <p:cNvPr id="28" name="Text 26"/>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6B739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463040" y="-1463040"/>
            <a:ext cx="4114800" cy="4114800"/>
          </a:xfrm>
          <a:prstGeom prst="ellipse">
            <a:avLst/>
          </a:prstGeom>
          <a:solidFill>
            <a:srgbClr val="263572"/>
          </a:solidFill>
          <a:ln/>
        </p:spPr>
      </p:sp>
      <p:sp>
        <p:nvSpPr>
          <p:cNvPr id="3" name="Shape 1"/>
          <p:cNvSpPr/>
          <p:nvPr/>
        </p:nvSpPr>
        <p:spPr>
          <a:xfrm>
            <a:off x="9875520" y="4389120"/>
            <a:ext cx="3657600" cy="3657600"/>
          </a:xfrm>
          <a:prstGeom prst="ellipse">
            <a:avLst/>
          </a:prstGeom>
          <a:solidFill>
            <a:srgbClr val="263572"/>
          </a:solidFill>
          <a:ln/>
        </p:spPr>
      </p:sp>
      <p:pic>
        <p:nvPicPr>
          <p:cNvPr id="4" name="Image 0" descr="iilm_logo.jpg">    </p:cNvPr>
          <p:cNvPicPr>
            <a:picLocks noChangeAspect="1"/>
          </p:cNvPicPr>
          <p:nvPr/>
        </p:nvPicPr>
        <p:blipFill>
          <a:blip r:embed="rId1"/>
          <a:stretch>
            <a:fillRect/>
          </a:stretch>
        </p:blipFill>
        <p:spPr>
          <a:xfrm>
            <a:off x="5166360" y="2011680"/>
            <a:ext cx="1828800" cy="510235"/>
          </a:xfrm>
          <a:prstGeom prst="rect">
            <a:avLst/>
          </a:prstGeom>
        </p:spPr>
      </p:pic>
      <p:sp>
        <p:nvSpPr>
          <p:cNvPr id="5" name="Text 2"/>
          <p:cNvSpPr/>
          <p:nvPr/>
        </p:nvSpPr>
        <p:spPr>
          <a:xfrm>
            <a:off x="640080" y="2834640"/>
            <a:ext cx="10881360" cy="91440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6" name="Text 3"/>
          <p:cNvSpPr/>
          <p:nvPr/>
        </p:nvSpPr>
        <p:spPr>
          <a:xfrm>
            <a:off x="640080" y="3703320"/>
            <a:ext cx="10881360" cy="457200"/>
          </a:xfrm>
          <a:prstGeom prst="rect">
            <a:avLst/>
          </a:prstGeom>
          <a:noFill/>
          <a:ln/>
        </p:spPr>
        <p:txBody>
          <a:bodyPr wrap="square" rtlCol="0" anchor="ctr"/>
          <a:lstStyle/>
          <a:p>
            <a:pPr algn="ctr" indent="0" marL="0">
              <a:buNone/>
            </a:pPr>
            <a:r>
              <a:rPr lang="en-US" sz="1400" dirty="0">
                <a:solidFill>
                  <a:srgbClr val="CADCFC"/>
                </a:solidFill>
                <a:latin typeface="Calibri" pitchFamily="34" charset="0"/>
                <a:ea typeface="Calibri" pitchFamily="34" charset="-122"/>
                <a:cs typeface="Calibri" pitchFamily="34" charset="-120"/>
              </a:rPr>
              <a:t>Akshat Bisht  •  CS-2341045  •  B.Tech CSE, Semester 7</a:t>
            </a:r>
            <a:endParaRPr lang="en-US" sz="1400" dirty="0"/>
          </a:p>
        </p:txBody>
      </p:sp>
      <p:sp>
        <p:nvSpPr>
          <p:cNvPr id="7" name="Text 4"/>
          <p:cNvSpPr/>
          <p:nvPr/>
        </p:nvSpPr>
        <p:spPr>
          <a:xfrm>
            <a:off x="640080" y="4114800"/>
            <a:ext cx="10881360" cy="365760"/>
          </a:xfrm>
          <a:prstGeom prst="rect">
            <a:avLst/>
          </a:prstGeom>
          <a:noFill/>
          <a:ln/>
        </p:spPr>
        <p:txBody>
          <a:bodyPr wrap="square" rtlCol="0" anchor="ctr"/>
          <a:lstStyle/>
          <a:p>
            <a:pPr algn="ctr" indent="0" marL="0">
              <a:buNone/>
            </a:pPr>
            <a:r>
              <a:rPr lang="en-US" sz="1200" dirty="0">
                <a:solidFill>
                  <a:srgbClr val="9FA8D0"/>
                </a:solidFill>
                <a:latin typeface="Calibri" pitchFamily="34" charset="0"/>
                <a:ea typeface="Calibri" pitchFamily="34" charset="-122"/>
                <a:cs typeface="Calibri" pitchFamily="34" charset="-120"/>
              </a:rPr>
              <a:t>DynPro India Pvt. Ltd.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2026-08-30T08:40:15Z</dcterms:created>
  <dcterms:modified xsi:type="dcterms:W3CDTF">2026-08-30T08:40:15Z</dcterms:modified>
</cp:coreProperties>
</file>